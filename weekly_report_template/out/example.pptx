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/>
  <p:notesSz cx="6858000" cy="9144000"/>
  <p:defaultTextStyle>
    <a:defPPr>
      <a:defRPr lang="ar-SA"/>
    </a:defPPr>
    <a:lvl1pPr marL="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دليل سريع: اكتب داخل الحقول الإرشادية (لا تُطبع إن بقيت فارغة). لأسبوع جديد: Ctrl+D على هذه الشريحة فيزيد العداد تلقائيًا. للتصدير: ملف ← تصدير ← PDF ← خيارات ← الشريحة الحالية. التفاصيل في الشريحة المخفية الأخيرة.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صفحة فارغ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التقرير الأسبوع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لوحة الترويسة"/>
          <p:cNvSpPr/>
          <p:nvPr/>
        </p:nvSpPr>
        <p:spPr>
          <a:xfrm>
            <a:off x="0" y="0"/>
            <a:ext cx="7560000" cy="1656000"/>
          </a:xfrm>
          <a:prstGeom prst="rect">
            <a:avLst/>
          </a:prstGeom>
          <a:gradFill rotWithShape="1">
            <a:gsLst>
              <a:gs pos="0">
                <a:srgbClr val="0B1F3F"/>
              </a:gs>
              <a:gs pos="100000">
                <a:srgbClr val="14315E"/>
              </a:gs>
            </a:gsLst>
            <a:lin ang="1200000" scaled="0"/>
          </a:gradFill>
          <a:ln>
            <a:noFill/>
          </a:ln>
        </p:spPr>
      </p:sp>
      <p:cxnSp>
        <p:nvCxnSpPr>
          <p:cNvPr id="3" name="خط زخرفي"/>
          <p:cNvCxnSpPr/>
          <p:nvPr/>
        </p:nvCxnSpPr>
        <p:spPr>
          <a:xfrm flipV="1">
            <a:off x="1995314" y="286600"/>
            <a:ext cx="298126" cy="52538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4" name="خط زخرفي"/>
          <p:cNvCxnSpPr/>
          <p:nvPr/>
        </p:nvCxnSpPr>
        <p:spPr>
          <a:xfrm>
            <a:off x="2293440" y="286600"/>
            <a:ext cx="316038" cy="155922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5" name="خط زخرفي"/>
          <p:cNvCxnSpPr/>
          <p:nvPr/>
        </p:nvCxnSpPr>
        <p:spPr>
          <a:xfrm flipV="1">
            <a:off x="2609479" y="229691"/>
            <a:ext cx="171474" cy="212831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6" name="خط زخرفي"/>
          <p:cNvCxnSpPr/>
          <p:nvPr/>
        </p:nvCxnSpPr>
        <p:spPr>
          <a:xfrm>
            <a:off x="1866684" y="491843"/>
            <a:ext cx="30558" cy="53554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7" name="خط زخرفي"/>
          <p:cNvCxnSpPr/>
          <p:nvPr/>
        </p:nvCxnSpPr>
        <p:spPr>
          <a:xfrm flipV="1">
            <a:off x="1897242" y="339138"/>
            <a:ext cx="98073" cy="206259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8" name="خط زخرفي"/>
          <p:cNvCxnSpPr/>
          <p:nvPr/>
        </p:nvCxnSpPr>
        <p:spPr>
          <a:xfrm flipV="1">
            <a:off x="1866684" y="339138"/>
            <a:ext cx="128631" cy="152705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9" name="خط زخرفي"/>
          <p:cNvCxnSpPr/>
          <p:nvPr/>
        </p:nvCxnSpPr>
        <p:spPr>
          <a:xfrm>
            <a:off x="1914913" y="242956"/>
            <a:ext cx="80402" cy="96182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10" name="خط زخرفي"/>
          <p:cNvCxnSpPr/>
          <p:nvPr/>
        </p:nvCxnSpPr>
        <p:spPr>
          <a:xfrm>
            <a:off x="2443503" y="777216"/>
            <a:ext cx="302423" cy="87713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sp>
        <p:nvSpPr>
          <p:cNvPr id="11" name="عقدة زخرفية"/>
          <p:cNvSpPr/>
          <p:nvPr/>
        </p:nvSpPr>
        <p:spPr>
          <a:xfrm>
            <a:off x="2239440" y="232600"/>
            <a:ext cx="108000" cy="1080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2" name="عقدة زخرفية"/>
          <p:cNvSpPr/>
          <p:nvPr/>
        </p:nvSpPr>
        <p:spPr>
          <a:xfrm>
            <a:off x="2748553" y="197291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3" name="عقدة زخرفية"/>
          <p:cNvSpPr/>
          <p:nvPr/>
        </p:nvSpPr>
        <p:spPr>
          <a:xfrm>
            <a:off x="2577079" y="410122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4" name="عقدة زخرفية"/>
          <p:cNvSpPr/>
          <p:nvPr/>
        </p:nvSpPr>
        <p:spPr>
          <a:xfrm>
            <a:off x="1843242" y="491397"/>
            <a:ext cx="108000" cy="1080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5" name="عقدة زخرفية"/>
          <p:cNvSpPr/>
          <p:nvPr/>
        </p:nvSpPr>
        <p:spPr>
          <a:xfrm>
            <a:off x="1834284" y="459443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6" name="عقدة زخرفية"/>
          <p:cNvSpPr/>
          <p:nvPr/>
        </p:nvSpPr>
        <p:spPr>
          <a:xfrm>
            <a:off x="1882513" y="210556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7" name="عقدة زخرفية"/>
          <p:cNvSpPr/>
          <p:nvPr/>
        </p:nvSpPr>
        <p:spPr>
          <a:xfrm>
            <a:off x="2389503" y="723216"/>
            <a:ext cx="108000" cy="1080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8" name="عقدة زخرفية"/>
          <p:cNvSpPr/>
          <p:nvPr/>
        </p:nvSpPr>
        <p:spPr>
          <a:xfrm>
            <a:off x="1962914" y="306738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9" name="عقدة زخرفية"/>
          <p:cNvSpPr/>
          <p:nvPr/>
        </p:nvSpPr>
        <p:spPr>
          <a:xfrm>
            <a:off x="2713526" y="832529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20" name="الشعار"/>
          <p:cNvSpPr>
            <a:spLocks noGrp="1"/>
          </p:cNvSpPr>
          <p:nvPr>
            <p:ph type="pic" sz="quarter" idx="40" hasCustomPrompt="1"/>
          </p:nvPr>
        </p:nvSpPr>
        <p:spPr>
          <a:xfrm>
            <a:off x="6336000" y="288000"/>
            <a:ext cx="792000" cy="792000"/>
          </a:xfrm>
          <a:prstGeom prst="rect">
            <a:avLst/>
          </a:prstGeom>
          <a:noFill/>
        </p:spPr>
        <p:txBody>
          <a:bodyPr anchor="ctr" lIns="0" tIns="0" rIns="0" bIns="0"/>
          <a:lstStyle>
            <a:lvl1pPr algn="ctr" rtl="1">
              <a:buNone/>
              <a:defRPr lang="ar-SA" sz="800" dirty="0">
                <a:solidFill>
                  <a:srgbClr val="FFFFFF">
                    <a:alpha val="70000"/>
                  </a:srgbClr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الشعار</a:t>
            </a:r>
          </a:p>
        </p:txBody>
      </p:sp>
      <p:sp>
        <p:nvSpPr>
          <p:cNvPr id="21" name="اسم الجهة"/>
          <p:cNvSpPr>
            <a:spLocks noGrp="1"/>
          </p:cNvSpPr>
          <p:nvPr>
            <p:ph type="body" sz="quarter" idx="11" hasCustomPrompt="1"/>
          </p:nvPr>
        </p:nvSpPr>
        <p:spPr>
          <a:xfrm>
            <a:off x="3456000" y="306000"/>
            <a:ext cx="2736000" cy="252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95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اسم الجهة — الإدارة / القسم</a:t>
            </a:r>
          </a:p>
        </p:txBody>
      </p:sp>
      <p:sp>
        <p:nvSpPr>
          <p:cNvPr id="22" name="عنوان التقرير"/>
          <p:cNvSpPr txBox="1"/>
          <p:nvPr/>
        </p:nvSpPr>
        <p:spPr>
          <a:xfrm>
            <a:off x="3456000" y="558000"/>
            <a:ext cx="2736000" cy="3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ar-SA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التقرير الأسبوعي للمهام</a:t>
            </a:r>
          </a:p>
        </p:txBody>
      </p:sp>
      <p:sp>
        <p:nvSpPr>
          <p:cNvPr id="23" name="عداد التقرير"/>
          <p:cNvSpPr txBox="1"/>
          <p:nvPr/>
        </p:nvSpPr>
        <p:spPr>
          <a:xfrm>
            <a:off x="432000" y="324000"/>
            <a:ext cx="1224000" cy="540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12A5A8"/>
              </a:gs>
              <a:gs pos="100000">
                <a:srgbClr val="6CC04A"/>
              </a:gs>
            </a:gsLst>
            <a:lin ang="0" scaled="0"/>
          </a:gra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 rtl="1">
              <a:buNone/>
            </a:pPr>
            <a:r>
              <a:rPr lang="ar-SA" sz="950" dirty="0">
                <a:solidFill>
                  <a:srgbClr val="FFFFFF">
                    <a:alpha val="88000"/>
                  </a:srgbClr>
                </a:solidFill>
                <a:latin typeface="IBM Plex Sans Arabic"/>
                <a:cs typeface="IBM Plex Sans Arabic"/>
              </a:rPr>
              <a:t>تقرير رقم  </a:t>
            </a:r>
            <a:fld id="{B6F15528-21DE-4FAA-801E-634DDDAF4B2B}" type="slidenum">
              <a:rPr lang="en-US" sz="2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</a:t>
            </a:fld>
          </a:p>
        </p:txBody>
      </p:sp>
      <p:sp>
        <p:nvSpPr>
          <p:cNvPr id="24" name="تسمية: الفترة"/>
          <p:cNvSpPr txBox="1"/>
          <p:nvPr/>
        </p:nvSpPr>
        <p:spPr>
          <a:xfrm>
            <a:off x="4992000" y="1098000"/>
            <a:ext cx="213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750" b="1" dirty="0">
                <a:solidFill>
                  <a:srgbClr val="12A5A8"/>
                </a:solidFill>
                <a:latin typeface="IBM Plex Sans Arabic"/>
                <a:cs typeface="IBM Plex Sans Arabic"/>
              </a:rPr>
              <a:t>الفترة</a:t>
            </a:r>
          </a:p>
        </p:txBody>
      </p:sp>
      <p:sp>
        <p:nvSpPr>
          <p:cNvPr id="25" name="الفترة"/>
          <p:cNvSpPr>
            <a:spLocks noGrp="1"/>
          </p:cNvSpPr>
          <p:nvPr>
            <p:ph type="body" sz="quarter" idx="12" hasCustomPrompt="1"/>
          </p:nvPr>
        </p:nvSpPr>
        <p:spPr>
          <a:xfrm>
            <a:off x="499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من … إلى … (الأسبوع …)</a:t>
            </a:r>
          </a:p>
        </p:txBody>
      </p:sp>
      <p:sp>
        <p:nvSpPr>
          <p:cNvPr id="26" name="تسمية: إعداد"/>
          <p:cNvSpPr txBox="1"/>
          <p:nvPr/>
        </p:nvSpPr>
        <p:spPr>
          <a:xfrm>
            <a:off x="2712000" y="1098000"/>
            <a:ext cx="213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750" b="1" dirty="0">
                <a:solidFill>
                  <a:srgbClr val="12A5A8"/>
                </a:solidFill>
                <a:latin typeface="IBM Plex Sans Arabic"/>
                <a:cs typeface="IBM Plex Sans Arabic"/>
              </a:rPr>
              <a:t>إعداد</a:t>
            </a:r>
          </a:p>
        </p:txBody>
      </p:sp>
      <p:sp>
        <p:nvSpPr>
          <p:cNvPr id="27" name="إعداد"/>
          <p:cNvSpPr>
            <a:spLocks noGrp="1"/>
          </p:cNvSpPr>
          <p:nvPr>
            <p:ph type="body" sz="quarter" idx="13" hasCustomPrompt="1"/>
          </p:nvPr>
        </p:nvSpPr>
        <p:spPr>
          <a:xfrm>
            <a:off x="271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الاسم — المسمى الوظيفي</a:t>
            </a:r>
          </a:p>
        </p:txBody>
      </p:sp>
      <p:sp>
        <p:nvSpPr>
          <p:cNvPr id="28" name="تسمية: مُقدَّم إلى"/>
          <p:cNvSpPr txBox="1"/>
          <p:nvPr/>
        </p:nvSpPr>
        <p:spPr>
          <a:xfrm>
            <a:off x="432000" y="1098000"/>
            <a:ext cx="213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750" b="1" dirty="0">
                <a:solidFill>
                  <a:srgbClr val="12A5A8"/>
                </a:solidFill>
                <a:latin typeface="IBM Plex Sans Arabic"/>
                <a:cs typeface="IBM Plex Sans Arabic"/>
              </a:rPr>
              <a:t>مُقدَّم إلى</a:t>
            </a:r>
          </a:p>
        </p:txBody>
      </p:sp>
      <p:sp>
        <p:nvSpPr>
          <p:cNvPr id="29" name="مُقدَّم إلى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اسم المدير — المسمى</a:t>
            </a:r>
          </a:p>
        </p:txBody>
      </p:sp>
      <p:sp>
        <p:nvSpPr>
          <p:cNvPr id="30" name="تسمية الخلاصة"/>
          <p:cNvSpPr txBox="1"/>
          <p:nvPr/>
        </p:nvSpPr>
        <p:spPr>
          <a:xfrm>
            <a:off x="2880000" y="1908000"/>
            <a:ext cx="4248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خلاصة الأسبوع</a:t>
            </a:r>
          </a:p>
        </p:txBody>
      </p:sp>
      <p:sp>
        <p:nvSpPr>
          <p:cNvPr id="31" name="خلاصة الأسبوع"/>
          <p:cNvSpPr>
            <a:spLocks noGrp="1"/>
          </p:cNvSpPr>
          <p:nvPr>
            <p:ph type="body" sz="quarter" idx="20" hasCustomPrompt="1"/>
          </p:nvPr>
        </p:nvSpPr>
        <p:spPr>
          <a:xfrm>
            <a:off x="2880000" y="2124000"/>
            <a:ext cx="4248000" cy="86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32000"/>
              </a:lnSpc>
              <a:spcAft>
                <a:spcPts val="0"/>
              </a:spcAft>
              <a:buNone/>
              <a:defRPr lang="ar-SA" sz="1250" dirty="0">
                <a:solidFill>
                  <a:srgbClr val="1C2B3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لخّص الأسبوع في ثلاثة أسطر: أبرز ما أُنجز، وما يسير، وما يحتاج تدخّلًا.</a:t>
            </a:r>
          </a:p>
        </p:txBody>
      </p:sp>
      <p:sp>
        <p:nvSpPr>
          <p:cNvPr id="32" name="بطاقة مهام منجزة"/>
          <p:cNvSpPr/>
          <p:nvPr/>
        </p:nvSpPr>
        <p:spPr>
          <a:xfrm>
            <a:off x="194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33" name="عدد مهام منجزة"/>
          <p:cNvSpPr>
            <a:spLocks noGrp="1"/>
          </p:cNvSpPr>
          <p:nvPr>
            <p:ph type="body" sz="quarter" idx="21" hasCustomPrompt="1"/>
          </p:nvPr>
        </p:nvSpPr>
        <p:spPr>
          <a:xfrm>
            <a:off x="194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6CC04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34" name="تسمية مهام منجزة"/>
          <p:cNvSpPr txBox="1"/>
          <p:nvPr/>
        </p:nvSpPr>
        <p:spPr>
          <a:xfrm>
            <a:off x="194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0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منجزة</a:t>
            </a:r>
          </a:p>
        </p:txBody>
      </p:sp>
      <p:sp>
        <p:nvSpPr>
          <p:cNvPr id="35" name="بطاقة مهام جارية"/>
          <p:cNvSpPr/>
          <p:nvPr/>
        </p:nvSpPr>
        <p:spPr>
          <a:xfrm>
            <a:off x="113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36" name="عدد مهام جارية"/>
          <p:cNvSpPr>
            <a:spLocks noGrp="1"/>
          </p:cNvSpPr>
          <p:nvPr>
            <p:ph type="body" sz="quarter" idx="22" hasCustomPrompt="1"/>
          </p:nvPr>
        </p:nvSpPr>
        <p:spPr>
          <a:xfrm>
            <a:off x="113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12A5A8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37" name="تسمية مهام جارية"/>
          <p:cNvSpPr txBox="1"/>
          <p:nvPr/>
        </p:nvSpPr>
        <p:spPr>
          <a:xfrm>
            <a:off x="113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0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جارية</a:t>
            </a:r>
          </a:p>
        </p:txBody>
      </p:sp>
      <p:sp>
        <p:nvSpPr>
          <p:cNvPr id="38" name="بطاقة مهام قادمة"/>
          <p:cNvSpPr/>
          <p:nvPr/>
        </p:nvSpPr>
        <p:spPr>
          <a:xfrm>
            <a:off x="32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39" name="عدد مهام قادمة"/>
          <p:cNvSpPr>
            <a:spLocks noGrp="1"/>
          </p:cNvSpPr>
          <p:nvPr>
            <p:ph type="body" sz="quarter" idx="23" hasCustomPrompt="1"/>
          </p:nvPr>
        </p:nvSpPr>
        <p:spPr>
          <a:xfrm>
            <a:off x="32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0B1F3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40" name="تسمية مهام قادمة"/>
          <p:cNvSpPr txBox="1"/>
          <p:nvPr/>
        </p:nvSpPr>
        <p:spPr>
          <a:xfrm>
            <a:off x="32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0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قادمة</a:t>
            </a:r>
          </a:p>
        </p:txBody>
      </p:sp>
      <p:sp>
        <p:nvSpPr>
          <p:cNvPr id="41" name="أيقونة قسم"/>
          <p:cNvSpPr/>
          <p:nvPr/>
        </p:nvSpPr>
        <p:spPr>
          <a:xfrm>
            <a:off x="6998400" y="3322800"/>
            <a:ext cx="129600" cy="129600"/>
          </a:xfrm>
          <a:prstGeom prst="ellipse">
            <a:avLst/>
          </a:prstGeom>
          <a:solidFill>
            <a:srgbClr val="6CC04A"/>
          </a:solidFill>
          <a:ln>
            <a:noFill/>
          </a:ln>
        </p:spPr>
      </p:sp>
      <p:sp>
        <p:nvSpPr>
          <p:cNvPr id="42" name="أيقونة قسم داخلية"/>
          <p:cNvSpPr/>
          <p:nvPr/>
        </p:nvSpPr>
        <p:spPr>
          <a:xfrm>
            <a:off x="7038000" y="3362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عنوان قسم: المهام المنجزة هذا الأسبوع"/>
          <p:cNvSpPr txBox="1"/>
          <p:nvPr/>
        </p:nvSpPr>
        <p:spPr>
          <a:xfrm>
            <a:off x="2606400" y="3268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0B1F3F"/>
                </a:solidFill>
                <a:latin typeface="IBM Plex Sans Arabic"/>
                <a:cs typeface="IBM Plex Sans Arabic"/>
              </a:rPr>
              <a:t>المهام المنجزة هذا الأسبوع</a:t>
            </a:r>
          </a:p>
        </p:txBody>
      </p:sp>
      <p:sp>
        <p:nvSpPr>
          <p:cNvPr id="44" name="المهام المنجزة"/>
          <p:cNvSpPr>
            <a:spLocks noGrp="1"/>
          </p:cNvSpPr>
          <p:nvPr>
            <p:ph type="body" sz="quarter" idx="24" hasCustomPrompt="1"/>
          </p:nvPr>
        </p:nvSpPr>
        <p:spPr>
          <a:xfrm>
            <a:off x="432000" y="3564000"/>
            <a:ext cx="6696000" cy="1512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162000" indent="-162000" algn="r" rtl="1">
              <a:lnSpc>
                <a:spcPct val="128000"/>
              </a:lnSpc>
              <a:spcAft>
                <a:spcPts val="250"/>
              </a:spcAft>
              <a:buClr>
                <a:srgbClr val="6CC04A"/>
              </a:buClr>
              <a:buSzPct val="110000"/>
              <a:buFont typeface="Arial" pitchFamily="34" charset="0"/>
              <a:buChar char="•"/>
              <a:defRPr lang="ar-SA" sz="1200" dirty="0">
                <a:solidFill>
                  <a:srgbClr val="1C2B3A"/>
                </a:solidFill>
                <a:latin typeface="IBM Plex Sans Arabic"/>
                <a:cs typeface="IBM Plex Sans Arabic"/>
              </a:defRPr>
            </a:lvl1pPr>
            <a:lvl2pPr marL="342000" indent="-162000" algn="r" rtl="1">
              <a:lnSpc>
                <a:spcPct val="128000"/>
              </a:lnSpc>
              <a:spcAft>
                <a:spcPts val="250"/>
              </a:spcAft>
              <a:buClr>
                <a:srgbClr val="5F6B7A"/>
              </a:buClr>
              <a:buSzPct val="110000"/>
              <a:buFont typeface="Arial" pitchFamily="34" charset="0"/>
              <a:buChar char="–"/>
              <a:defRPr lang="ar-SA" sz="1100" dirty="0">
                <a:solidFill>
                  <a:srgbClr val="5F6B7A"/>
                </a:solidFill>
                <a:latin typeface="IBM Plex Sans Arabic"/>
                <a:cs typeface="IBM Plex Sans Arabic"/>
              </a:defRPr>
            </a:lvl2pPr>
          </a:lstStyle>
          <a:p>
            <a:r>
              <a:rPr lang="ar-SA" dirty="0"/>
              <a:t>اكتب كل مهمة منجزة في سطر: اسم المهمة — النتيجة أو الأثر (مع رقم إن أمكن).</a:t>
            </a:r>
          </a:p>
        </p:txBody>
      </p:sp>
      <p:sp>
        <p:nvSpPr>
          <p:cNvPr id="45" name="أيقونة قسم"/>
          <p:cNvSpPr/>
          <p:nvPr/>
        </p:nvSpPr>
        <p:spPr>
          <a:xfrm>
            <a:off x="6998400" y="5302800"/>
            <a:ext cx="129600" cy="1296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</p:sp>
      <p:sp>
        <p:nvSpPr>
          <p:cNvPr id="46" name="أيقونة قسم داخلية"/>
          <p:cNvSpPr/>
          <p:nvPr/>
        </p:nvSpPr>
        <p:spPr>
          <a:xfrm>
            <a:off x="7038000" y="5342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عنوان قسم: المهام الجارية"/>
          <p:cNvSpPr txBox="1"/>
          <p:nvPr/>
        </p:nvSpPr>
        <p:spPr>
          <a:xfrm>
            <a:off x="2606400" y="5248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0B1F3F"/>
                </a:solidFill>
                <a:latin typeface="IBM Plex Sans Arabic"/>
                <a:cs typeface="IBM Plex Sans Arabic"/>
              </a:rPr>
              <a:t>المهام الجارية</a:t>
            </a:r>
          </a:p>
        </p:txBody>
      </p:sp>
      <p:sp>
        <p:nvSpPr>
          <p:cNvPr id="48" name="أيقونة قسم"/>
          <p:cNvSpPr/>
          <p:nvPr/>
        </p:nvSpPr>
        <p:spPr>
          <a:xfrm>
            <a:off x="6998400" y="7228800"/>
            <a:ext cx="129600" cy="129600"/>
          </a:xfrm>
          <a:prstGeom prst="ellipse">
            <a:avLst/>
          </a:prstGeom>
          <a:solidFill>
            <a:srgbClr val="0B1F3F"/>
          </a:solidFill>
          <a:ln>
            <a:noFill/>
          </a:ln>
        </p:spPr>
      </p:sp>
      <p:sp>
        <p:nvSpPr>
          <p:cNvPr id="49" name="أيقونة قسم داخلية"/>
          <p:cNvSpPr/>
          <p:nvPr/>
        </p:nvSpPr>
        <p:spPr>
          <a:xfrm>
            <a:off x="7038000" y="7268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0" name="عنوان قسم: خطة الأسبوع القادم"/>
          <p:cNvSpPr txBox="1"/>
          <p:nvPr/>
        </p:nvSpPr>
        <p:spPr>
          <a:xfrm>
            <a:off x="2606400" y="7174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0B1F3F"/>
                </a:solidFill>
                <a:latin typeface="IBM Plex Sans Arabic"/>
                <a:cs typeface="IBM Plex Sans Arabic"/>
              </a:rPr>
              <a:t>خطة الأسبوع القادم</a:t>
            </a:r>
          </a:p>
        </p:txBody>
      </p:sp>
      <p:sp>
        <p:nvSpPr>
          <p:cNvPr id="51" name="خطة الأسبوع القادم"/>
          <p:cNvSpPr>
            <a:spLocks noGrp="1"/>
          </p:cNvSpPr>
          <p:nvPr>
            <p:ph type="body" sz="quarter" idx="25" hasCustomPrompt="1"/>
          </p:nvPr>
        </p:nvSpPr>
        <p:spPr>
          <a:xfrm>
            <a:off x="432000" y="7452000"/>
            <a:ext cx="6696000" cy="118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162000" indent="-162000" algn="r" rtl="1">
              <a:lnSpc>
                <a:spcPct val="128000"/>
              </a:lnSpc>
              <a:spcAft>
                <a:spcPts val="250"/>
              </a:spcAft>
              <a:buClr>
                <a:srgbClr val="0B1F3F"/>
              </a:buClr>
              <a:buSzPct val="110000"/>
              <a:buFont typeface="Arial" pitchFamily="34" charset="0"/>
              <a:buChar char="•"/>
              <a:defRPr lang="ar-SA" sz="1200" dirty="0">
                <a:solidFill>
                  <a:srgbClr val="1C2B3A"/>
                </a:solidFill>
                <a:latin typeface="IBM Plex Sans Arabic"/>
                <a:cs typeface="IBM Plex Sans Arabic"/>
              </a:defRPr>
            </a:lvl1pPr>
            <a:lvl2pPr marL="342000" indent="-162000" algn="r" rtl="1">
              <a:lnSpc>
                <a:spcPct val="128000"/>
              </a:lnSpc>
              <a:spcAft>
                <a:spcPts val="250"/>
              </a:spcAft>
              <a:buClr>
                <a:srgbClr val="5F6B7A"/>
              </a:buClr>
              <a:buSzPct val="110000"/>
              <a:buFont typeface="Arial" pitchFamily="34" charset="0"/>
              <a:buChar char="–"/>
              <a:defRPr lang="ar-SA" sz="1100" dirty="0">
                <a:solidFill>
                  <a:srgbClr val="5F6B7A"/>
                </a:solidFill>
                <a:latin typeface="IBM Plex Sans Arabic"/>
                <a:cs typeface="IBM Plex Sans Arabic"/>
              </a:defRPr>
            </a:lvl2pPr>
          </a:lstStyle>
          <a:p>
            <a:r>
              <a:rPr lang="ar-SA" dirty="0"/>
              <a:t>اكتب المهام المخطط لها الأسبوع القادم، مهمة في كل سطر، مع الموعد إن وُجد.</a:t>
            </a:r>
          </a:p>
        </p:txBody>
      </p:sp>
      <p:sp>
        <p:nvSpPr>
          <p:cNvPr id="52" name="صندوق القرار"/>
          <p:cNvSpPr/>
          <p:nvPr/>
        </p:nvSpPr>
        <p:spPr>
          <a:xfrm>
            <a:off x="3672000" y="8820000"/>
            <a:ext cx="3456000" cy="1044000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</p:spPr>
      </p:sp>
      <p:sp>
        <p:nvSpPr>
          <p:cNvPr id="53" name="تسمية القرار"/>
          <p:cNvSpPr txBox="1"/>
          <p:nvPr/>
        </p:nvSpPr>
        <p:spPr>
          <a:xfrm>
            <a:off x="3816000" y="8910000"/>
            <a:ext cx="3168000" cy="19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05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قرار أو دعم مطلوب من المدير</a:t>
            </a:r>
          </a:p>
        </p:txBody>
      </p:sp>
      <p:sp>
        <p:nvSpPr>
          <p:cNvPr id="54" name="القرار المطلوب"/>
          <p:cNvSpPr>
            <a:spLocks noGrp="1"/>
          </p:cNvSpPr>
          <p:nvPr>
            <p:ph type="body" sz="quarter" idx="26" hasCustomPrompt="1"/>
          </p:nvPr>
        </p:nvSpPr>
        <p:spPr>
          <a:xfrm>
            <a:off x="3816000" y="9144000"/>
            <a:ext cx="3168000" cy="64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25000"/>
              </a:lnSpc>
              <a:spcAft>
                <a:spcPts val="0"/>
              </a:spcAft>
              <a:buNone/>
              <a:defRPr lang="ar-SA" sz="1100" dirty="0">
                <a:solidFill>
                  <a:srgbClr val="1C2B3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اكتب طلبًا واضحًا واحدًا: ماذا تحتاج، ولماذا، وقبل أي تاريخ. (اتركه فارغًا إن لم يوجد)</a:t>
            </a:r>
          </a:p>
        </p:txBody>
      </p:sp>
      <p:sp>
        <p:nvSpPr>
          <p:cNvPr id="55" name="صندوق التحديات"/>
          <p:cNvSpPr/>
          <p:nvPr/>
        </p:nvSpPr>
        <p:spPr>
          <a:xfrm>
            <a:off x="432000" y="8820000"/>
            <a:ext cx="3060000" cy="1044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56" name="تسمية التحديات"/>
          <p:cNvSpPr txBox="1"/>
          <p:nvPr/>
        </p:nvSpPr>
        <p:spPr>
          <a:xfrm>
            <a:off x="576000" y="8910000"/>
            <a:ext cx="2772000" cy="19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950" b="1" dirty="0">
                <a:solidFill>
                  <a:srgbClr val="5F6B7A"/>
                </a:solidFill>
                <a:latin typeface="IBM Plex Sans Arabic"/>
                <a:cs typeface="IBM Plex Sans Arabic"/>
              </a:rPr>
              <a:t>التحديات</a:t>
            </a:r>
          </a:p>
        </p:txBody>
      </p:sp>
      <p:sp>
        <p:nvSpPr>
          <p:cNvPr id="57" name="التحديات"/>
          <p:cNvSpPr>
            <a:spLocks noGrp="1"/>
          </p:cNvSpPr>
          <p:nvPr>
            <p:ph type="body" sz="quarter" idx="27" hasCustomPrompt="1"/>
          </p:nvPr>
        </p:nvSpPr>
        <p:spPr>
          <a:xfrm>
            <a:off x="576000" y="9144000"/>
            <a:ext cx="2772000" cy="64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25000"/>
              </a:lnSpc>
              <a:spcAft>
                <a:spcPts val="0"/>
              </a:spcAft>
              <a:buNone/>
              <a:defRPr lang="ar-SA" sz="1000" dirty="0">
                <a:solidFill>
                  <a:srgbClr val="5F6B7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لا توجد تحديات هذا الأسبوع — أو اكتب التحدي في جملة وما فعلته حياله.</a:t>
            </a:r>
          </a:p>
        </p:txBody>
      </p:sp>
      <p:cxnSp>
        <p:nvCxnSpPr>
          <p:cNvPr id="58" name="فاصل التذييل"/>
          <p:cNvCxnSpPr/>
          <p:nvPr/>
        </p:nvCxnSpPr>
        <p:spPr>
          <a:xfrm>
            <a:off x="432000" y="10098000"/>
            <a:ext cx="6696000" cy="0"/>
          </a:xfrm>
          <a:prstGeom prst="line">
            <a:avLst/>
          </a:prstGeom>
          <a:ln w="6350" cap="rnd">
            <a:solidFill>
              <a:srgbClr val="D9DEE5"/>
            </a:solidFill>
            <a:round/>
          </a:ln>
        </p:spPr>
      </p:cxnSp>
      <p:sp>
        <p:nvSpPr>
          <p:cNvPr id="59" name="التوقيع"/>
          <p:cNvSpPr>
            <a:spLocks noGrp="1"/>
          </p:cNvSpPr>
          <p:nvPr>
            <p:ph type="body" sz="quarter" idx="28" hasCustomPrompt="1"/>
          </p:nvPr>
        </p:nvSpPr>
        <p:spPr>
          <a:xfrm>
            <a:off x="2520000" y="10170000"/>
            <a:ext cx="4608000" cy="25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900" dirty="0">
                <a:solidFill>
                  <a:srgbClr val="5F6B7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إعداد: الاسم        التوقيع: ______________        التاريخ: __ / __ / ____</a:t>
            </a:r>
          </a:p>
        </p:txBody>
      </p:sp>
      <p:sp>
        <p:nvSpPr>
          <p:cNvPr id="60" name="نص التذييل الثابت"/>
          <p:cNvSpPr txBox="1"/>
          <p:nvPr/>
        </p:nvSpPr>
        <p:spPr>
          <a:xfrm>
            <a:off x="432000" y="10170000"/>
            <a:ext cx="198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ar-SA" sz="700" dirty="0">
                <a:solidFill>
                  <a:srgbClr val="8A95A3"/>
                </a:solidFill>
                <a:latin typeface="IBM Plex Sans Arabic"/>
                <a:cs typeface="IBM Plex Sans Arabic"/>
              </a:rPr>
              <a:t>تقرير داخلي أسبوعي — يُقدَّم إلى المدير المباشر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الشعار" descr="sample_logo.png"/>
          <p:cNvPicPr>
            <a:picLocks noGrp="1" noChangeAspect="1"/>
          </p:cNvPicPr>
          <p:nvPr>
            <p:ph type="pic" idx="40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اسم الجهة"/>
          <p:cNvSpPr>
            <a:spLocks noGrp="1"/>
          </p:cNvSpPr>
          <p:nvPr>
            <p:ph type="body" idx="11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الإدارة العامة للتحول الرقمي — إدارة البيانات والتحليلات</a:t>
            </a:r>
          </a:p>
        </p:txBody>
      </p:sp>
      <p:sp>
        <p:nvSpPr>
          <p:cNvPr id="4" name="الفترة"/>
          <p:cNvSpPr>
            <a:spLocks noGrp="1"/>
          </p:cNvSpPr>
          <p:nvPr>
            <p:ph type="body" idx="12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من 25 إلى 29 أكتوبر 2026 (الأسبوع 44)</a:t>
            </a:r>
          </a:p>
        </p:txBody>
      </p:sp>
      <p:sp>
        <p:nvSpPr>
          <p:cNvPr id="5" name="إعداد"/>
          <p:cNvSpPr>
            <a:spLocks noGrp="1"/>
          </p:cNvSpPr>
          <p:nvPr>
            <p:ph type="body" idx="13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أحمد العتيبي — محلل بيانات أول</a:t>
            </a:r>
          </a:p>
        </p:txBody>
      </p:sp>
      <p:sp>
        <p:nvSpPr>
          <p:cNvPr id="6" name="مُقدَّم إلى"/>
          <p:cNvSpPr>
            <a:spLocks noGrp="1"/>
          </p:cNvSpPr>
          <p:nvPr>
            <p:ph type="body" idx="14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م. خالد القحطاني — مدير إدارة البيانات</a:t>
            </a:r>
          </a:p>
        </p:txBody>
      </p:sp>
      <p:sp>
        <p:nvSpPr>
          <p:cNvPr id="7" name="خلاصة الأسبوع"/>
          <p:cNvSpPr>
            <a:spLocks noGrp="1"/>
          </p:cNvSpPr>
          <p:nvPr>
            <p:ph type="body" idx="20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أُنجزت 4 مهام رئيسية هذا الأسبوع أبرزها إطلاق لوحة مؤشرات الأداء للإدارة، وتسير 3 مهام ضمن جدولها الزمني، ومهمة واحدة تحتاج قرارًا بشأن صلاحيات الوصول إلى بيانات المستفيدين قبل 12 نوفمبر.</a:t>
            </a:r>
          </a:p>
        </p:txBody>
      </p:sp>
      <p:sp>
        <p:nvSpPr>
          <p:cNvPr id="8" name="عدد المهام المنجزة"/>
          <p:cNvSpPr>
            <a:spLocks noGrp="1"/>
          </p:cNvSpPr>
          <p:nvPr>
            <p:ph type="body" idx="21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4</a:t>
            </a:r>
          </a:p>
        </p:txBody>
      </p:sp>
      <p:sp>
        <p:nvSpPr>
          <p:cNvPr id="9" name="عدد المهام الجارية"/>
          <p:cNvSpPr>
            <a:spLocks noGrp="1"/>
          </p:cNvSpPr>
          <p:nvPr>
            <p:ph type="body" idx="22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3</a:t>
            </a:r>
          </a:p>
        </p:txBody>
      </p:sp>
      <p:sp>
        <p:nvSpPr>
          <p:cNvPr id="10" name="عدد المهام القادمة"/>
          <p:cNvSpPr>
            <a:spLocks noGrp="1"/>
          </p:cNvSpPr>
          <p:nvPr>
            <p:ph type="body" idx="23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5</a:t>
            </a:r>
          </a:p>
        </p:txBody>
      </p:sp>
      <p:sp>
        <p:nvSpPr>
          <p:cNvPr id="11" name="المهام المنجزة"/>
          <p:cNvSpPr>
            <a:spLocks noGrp="1"/>
          </p:cNvSpPr>
          <p:nvPr>
            <p:ph type="body" idx="24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b="1" dirty="0"/>
              <a:t>إطلاق لوحة مؤشرات الأداء</a:t>
            </a:r>
            <a:r>
              <a:rPr lang="ar-SA" dirty="0"/>
              <a:t> — نُشرت على بيئة الإنتاج واعتمدتها 3 إدارات.</a:t>
            </a:r>
          </a:p>
          <a:p>
            <a:r>
              <a:rPr lang="ar-SA" b="1" dirty="0"/>
              <a:t>تنقية بيانات المستفيدين</a:t>
            </a:r>
            <a:r>
              <a:rPr lang="ar-SA" dirty="0"/>
              <a:t> — انخفضت السجلات المكررة بنسبة 18٪ (من 9,400 إلى 7,700 سجل).</a:t>
            </a:r>
          </a:p>
          <a:p>
            <a:r>
              <a:rPr lang="ar-SA" b="1" dirty="0"/>
              <a:t>ورشة سياسة حوكمة البيانات</a:t>
            </a:r>
            <a:r>
              <a:rPr lang="ar-SA" dirty="0"/>
              <a:t> — 24 مشاركًا، متوسط التقييم 4.6 من 5.</a:t>
            </a:r>
          </a:p>
          <a:p>
            <a:r>
              <a:rPr lang="ar-SA" b="1" dirty="0"/>
              <a:t>تقرير الامتثال الشهري</a:t>
            </a:r>
            <a:r>
              <a:rPr lang="ar-SA" dirty="0"/>
              <a:t> — سُلِّم قبل الموعد بيومين دون ملاحظات.</a:t>
            </a:r>
          </a:p>
        </p:txBody>
      </p:sp>
      <p:sp>
        <p:nvSpPr>
          <p:cNvPr id="12" name="خطة الأسبوع القادم"/>
          <p:cNvSpPr>
            <a:spLocks noGrp="1"/>
          </p:cNvSpPr>
          <p:nvPr>
            <p:ph type="body" idx="25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إكمال اختبار أتمتة التقارير مع الفريق التقني (الثلاثاء).</a:t>
            </a:r>
          </a:p>
          <a:p>
            <a:r>
              <a:rPr lang="ar-SA" dirty="0"/>
              <a:t>اجتماع مع إدارة الموارد البشرية لاعتماد حقول التكامل.</a:t>
            </a:r>
          </a:p>
          <a:p>
            <a:r>
              <a:rPr lang="ar-SA" dirty="0"/>
              <a:t>تسليم المسودة الأولى لدليل التصنيف للمراجعة.</a:t>
            </a:r>
          </a:p>
          <a:p>
            <a:r>
              <a:rPr lang="ar-SA" dirty="0"/>
              <a:t>إغلاق طلبات الوصول المعلّقة (6 طلبات).</a:t>
            </a:r>
          </a:p>
          <a:p>
            <a:r>
              <a:rPr lang="ar-SA" dirty="0"/>
              <a:t>إعداد عرض نتائج الربع للإدارة العليا.</a:t>
            </a:r>
          </a:p>
        </p:txBody>
      </p:sp>
      <p:sp>
        <p:nvSpPr>
          <p:cNvPr id="13" name="القرار المطلوب"/>
          <p:cNvSpPr>
            <a:spLocks noGrp="1"/>
          </p:cNvSpPr>
          <p:nvPr>
            <p:ph type="body" idx="26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اعتماد منح صلاحية «قراءة» لبيانات المستفيدين لفريق التحليلات (3 موظفين) لإكمال التكامل قبل 12 نوفمبر.</a:t>
            </a:r>
          </a:p>
        </p:txBody>
      </p:sp>
      <p:sp>
        <p:nvSpPr>
          <p:cNvPr id="14" name="التحديات"/>
          <p:cNvSpPr>
            <a:spLocks noGrp="1"/>
          </p:cNvSpPr>
          <p:nvPr>
            <p:ph type="body" idx="27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تأخر استلام بيانات الموارد البشرية بسبب تغيّر مسؤول النظام لديهم؛ تمت المتابعة وحُدّد موعد جديد للتسليم.</a:t>
            </a:r>
          </a:p>
        </p:txBody>
      </p:sp>
      <p:sp>
        <p:nvSpPr>
          <p:cNvPr id="15" name="التوقيع"/>
          <p:cNvSpPr>
            <a:spLocks noGrp="1"/>
          </p:cNvSpPr>
          <p:nvPr>
            <p:ph type="body" idx="28" sz="quarter"/>
          </p:nvPr>
        </p:nvSpPr>
        <p:spPr/>
        <p:txBody>
          <a:bodyPr wrap="square" lIns="0" tIns="0" rIns="0" bIns="0" rtlCol="0" anchor="ctr">
            <a:normAutofit/>
          </a:bodyPr>
          <a:lstStyle/>
          <a:p>
            <a:r>
              <a:rPr lang="ar-SA" dirty="0"/>
              <a:t>إعداد: أحمد العتيبي        التوقيع: ______________        التاريخ: 29 / 10 / 2026</a:t>
            </a:r>
          </a:p>
        </p:txBody>
      </p:sp>
      <p:graphicFrame>
        <p:nvGraphicFramePr>
          <p:cNvPr id="17" name="جدول المهام الجارية"/>
          <p:cNvGraphicFramePr>
            <a:graphicFrameLocks noGrp="1"/>
          </p:cNvGraphicFramePr>
          <p:nvPr/>
        </p:nvGraphicFramePr>
        <p:xfrm>
          <a:off x="432000" y="5544000"/>
          <a:ext cx="6696000" cy="1422000"/>
        </p:xfrm>
        <a:graphic>
          <a:graphicData uri="http://schemas.openxmlformats.org/drawingml/2006/table">
            <a:tbl>
              <a:tblPr firstRow="1"/>
              <a:tblGrid>
                <a:gridCol w="1080000"/>
                <a:gridCol w="1296000"/>
                <a:gridCol w="936000"/>
                <a:gridCol w="3384000"/>
              </a:tblGrid>
              <a:tr h="270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0B1F3F"/>
                          </a:solidFill>
                          <a:latin typeface="IBM Plex Sans Arabic"/>
                          <a:cs typeface="IBM Plex Sans Arabic"/>
                        </a:rPr>
                        <a:t>الحالة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2A5A8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0B1F3F"/>
                          </a:solidFill>
                          <a:latin typeface="IBM Plex Sans Arabic"/>
                          <a:cs typeface="IBM Plex Sans Arabic"/>
                        </a:rPr>
                        <a:t>الموعد المستهدف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2A5A8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0B1F3F"/>
                          </a:solidFill>
                          <a:latin typeface="IBM Plex Sans Arabic"/>
                          <a:cs typeface="IBM Plex Sans Arabic"/>
                        </a:rPr>
                        <a:t>نسبة الإنجاز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2A5A8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0B1F3F"/>
                          </a:solidFill>
                          <a:latin typeface="IBM Plex Sans Arabic"/>
                          <a:cs typeface="IBM Plex Sans Arabic"/>
                        </a:rPr>
                        <a:t>المهمة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2A5A8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على المسار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5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70٪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C2B3A"/>
                          </a:solidFill>
                          <a:latin typeface="IBM Plex Sans Arabic"/>
                          <a:cs typeface="IBM Plex Sans Arabic"/>
                        </a:rPr>
                        <a:t>أتمتة تقارير الالتزام الأسبوعية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تأخر بسيط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12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45٪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C2B3A"/>
                          </a:solidFill>
                          <a:latin typeface="IBM Plex Sans Arabic"/>
                          <a:cs typeface="IBM Plex Sans Arabic"/>
                        </a:rPr>
                        <a:t>تكامل بيانات الموارد البشرية مع مستودع البيانات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على المسار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20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"/>
                          <a:cs typeface="IBM Plex Sans Arabic"/>
                        </a:rPr>
                        <a:t>30٪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C2B3A"/>
                          </a:solidFill>
                          <a:latin typeface="IBM Plex Sans Arabic"/>
                          <a:cs typeface="IBM Plex Sans Arabic"/>
                        </a:rPr>
                        <a:t>تحديث دليل تصنيف البيانات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1C2B3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11" name="خلفية الدليل"/>
          <p:cNvSpPr/>
          <p:nvPr/>
        </p:nvSpPr>
        <p:spPr>
          <a:xfrm>
            <a:off x="0" y="0"/>
            <a:ext cx="7560000" cy="1224000"/>
          </a:xfrm>
          <a:prstGeom prst="rect">
            <a:avLst/>
          </a:prstGeom>
          <a:solidFill>
            <a:srgbClr val="0B1F3F"/>
          </a:solidFill>
          <a:ln>
            <a:noFill/>
          </a:ln>
        </p:spPr>
      </p:sp>
      <p:sp>
        <p:nvSpPr>
          <p:cNvPr id="12" name="عنوان الدليل"/>
          <p:cNvSpPr txBox="1"/>
          <p:nvPr/>
        </p:nvSpPr>
        <p:spPr>
          <a:xfrm>
            <a:off x="432000" y="288000"/>
            <a:ext cx="66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دليل استخدام القالب</a:t>
            </a:r>
          </a:p>
        </p:txBody>
      </p:sp>
      <p:sp>
        <p:nvSpPr>
          <p:cNvPr id="13" name="تنبيه"/>
          <p:cNvSpPr txBox="1"/>
          <p:nvPr/>
        </p:nvSpPr>
        <p:spPr>
          <a:xfrm>
            <a:off x="432000" y="684000"/>
            <a:ext cx="6696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050" dirty="0">
                <a:solidFill>
                  <a:srgbClr val="6CC04A"/>
                </a:solidFill>
                <a:latin typeface="IBM Plex Sans Arabic"/>
                <a:cs typeface="IBM Plex Sans Arabic"/>
              </a:rPr>
              <a:t>هذه الشريحة مخفية: لا تظهر في العرض ولا في الطباعة ولا في ملف PDF.</a:t>
            </a:r>
          </a:p>
        </p:txBody>
      </p:sp>
      <p:sp>
        <p:nvSpPr>
          <p:cNvPr id="14" name="عنوان فرعي"/>
          <p:cNvSpPr txBox="1"/>
          <p:nvPr/>
        </p:nvSpPr>
        <p:spPr>
          <a:xfrm>
            <a:off x="432000" y="1512000"/>
            <a:ext cx="6696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B1F3F"/>
                </a:solidFill>
                <a:latin typeface="IBM Plex Sans Arabic"/>
                <a:cs typeface="IBM Plex Sans Arabic"/>
              </a:rPr>
              <a:t>كيف تستخدم القالب؟</a:t>
            </a:r>
          </a:p>
        </p:txBody>
      </p:sp>
      <p:sp>
        <p:nvSpPr>
          <p:cNvPr id="15" name="رقم الخطوة"/>
          <p:cNvSpPr txBox="1"/>
          <p:nvPr/>
        </p:nvSpPr>
        <p:spPr>
          <a:xfrm>
            <a:off x="6840000" y="19008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</a:t>
            </a:r>
          </a:p>
        </p:txBody>
      </p:sp>
      <p:sp>
        <p:nvSpPr>
          <p:cNvPr id="16" name="دليل: الإدخال"/>
          <p:cNvSpPr txBox="1"/>
          <p:nvPr/>
        </p:nvSpPr>
        <p:spPr>
          <a:xfrm>
            <a:off x="432000" y="1872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الإدخال</a:t>
            </a:r>
          </a:p>
        </p:txBody>
      </p:sp>
      <p:sp>
        <p:nvSpPr>
          <p:cNvPr id="17" name="نص: الإدخال"/>
          <p:cNvSpPr txBox="1"/>
          <p:nvPr/>
        </p:nvSpPr>
        <p:spPr>
          <a:xfrm>
            <a:off x="432000" y="21240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اكتب مباشرة داخل الحقول ذات النص الإرشادي الرمادي. يختفي النص الإرشادي فور الكتابة، وإن تركت الحقل فارغًا فلن يظهر في الطباعة ولا في PDF.</a:t>
            </a:r>
          </a:p>
        </p:txBody>
      </p:sp>
      <p:sp>
        <p:nvSpPr>
          <p:cNvPr id="18" name="رقم الخطوة"/>
          <p:cNvSpPr txBox="1"/>
          <p:nvPr/>
        </p:nvSpPr>
        <p:spPr>
          <a:xfrm>
            <a:off x="6840000" y="27432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2</a:t>
            </a:r>
          </a:p>
        </p:txBody>
      </p:sp>
      <p:sp>
        <p:nvSpPr>
          <p:cNvPr id="19" name="دليل: العداد"/>
          <p:cNvSpPr txBox="1"/>
          <p:nvPr/>
        </p:nvSpPr>
        <p:spPr>
          <a:xfrm>
            <a:off x="432000" y="27144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العداد</a:t>
            </a:r>
          </a:p>
        </p:txBody>
      </p:sp>
      <p:sp>
        <p:nvSpPr>
          <p:cNvPr id="20" name="نص: العداد"/>
          <p:cNvSpPr txBox="1"/>
          <p:nvPr/>
        </p:nvSpPr>
        <p:spPr>
          <a:xfrm>
            <a:off x="432000" y="2966400"/>
            <a:ext cx="6264000" cy="8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«تقرير رقم N» مرتبط تلقائيًا برقم الشريحة. لأسبوع جديد: حدّد شريحة الأسبوع السابق واضغط Ctrl+D، فتظهر نسخة برقم تالٍ تلقائيًا، وتبقى التقارير السابقة أرشيفًا في الملف نفسه. لا تحذف الشرائح القديمة حتى لا يتغيّر الترقيم؛ وإن حذفتها فاضبط «ترقيم الشرائح من» في: تصميم ← حجم الشريحة ← حجم مخصص.</a:t>
            </a:r>
          </a:p>
        </p:txBody>
      </p:sp>
      <p:sp>
        <p:nvSpPr>
          <p:cNvPr id="21" name="رقم الخطوة"/>
          <p:cNvSpPr txBox="1"/>
          <p:nvPr/>
        </p:nvSpPr>
        <p:spPr>
          <a:xfrm>
            <a:off x="6840000" y="39600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3</a:t>
            </a:r>
          </a:p>
        </p:txBody>
      </p:sp>
      <p:sp>
        <p:nvSpPr>
          <p:cNvPr id="22" name="دليل: الإخراج"/>
          <p:cNvSpPr txBox="1"/>
          <p:nvPr/>
        </p:nvSpPr>
        <p:spPr>
          <a:xfrm>
            <a:off x="432000" y="39312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الإخراج</a:t>
            </a:r>
          </a:p>
        </p:txBody>
      </p:sp>
      <p:sp>
        <p:nvSpPr>
          <p:cNvPr id="23" name="نص: الإخراج"/>
          <p:cNvSpPr txBox="1"/>
          <p:nvPr/>
        </p:nvSpPr>
        <p:spPr>
          <a:xfrm>
            <a:off x="432000" y="41832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ملف ← تصدير ← إنشاء PDF ← خيارات ← «الشريحة الحالية» أو نطاق الشرائح. هذه الشريحة مخفية فلا تُصدَّر ولا تُطبع. للطباعة الورقية: طباعة ← A4 عمودي ← «ملاءمة الورقة».</a:t>
            </a:r>
          </a:p>
        </p:txBody>
      </p:sp>
      <p:sp>
        <p:nvSpPr>
          <p:cNvPr id="24" name="رقم الخطوة"/>
          <p:cNvSpPr txBox="1"/>
          <p:nvPr/>
        </p:nvSpPr>
        <p:spPr>
          <a:xfrm>
            <a:off x="6840000" y="48024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4</a:t>
            </a:r>
          </a:p>
        </p:txBody>
      </p:sp>
      <p:sp>
        <p:nvSpPr>
          <p:cNvPr id="25" name="دليل: الجدول"/>
          <p:cNvSpPr txBox="1"/>
          <p:nvPr/>
        </p:nvSpPr>
        <p:spPr>
          <a:xfrm>
            <a:off x="432000" y="47736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الجدول</a:t>
            </a:r>
          </a:p>
        </p:txBody>
      </p:sp>
      <p:sp>
        <p:nvSpPr>
          <p:cNvPr id="26" name="نص: الجدول"/>
          <p:cNvSpPr txBox="1"/>
          <p:nvPr/>
        </p:nvSpPr>
        <p:spPr>
          <a:xfrm>
            <a:off x="432000" y="50256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Tab في آخر خلية يضيف صفًا جديدًا. لحذف صف: زر الفأرة الأيمن ← حذف ← الصفوف. اكتب النسبة كرقم مع ٪ والموعد بتاريخ واضح.</a:t>
            </a:r>
          </a:p>
        </p:txBody>
      </p:sp>
      <p:sp>
        <p:nvSpPr>
          <p:cNvPr id="27" name="رقم الخطوة"/>
          <p:cNvSpPr txBox="1"/>
          <p:nvPr/>
        </p:nvSpPr>
        <p:spPr>
          <a:xfrm>
            <a:off x="6840000" y="56448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5</a:t>
            </a:r>
          </a:p>
        </p:txBody>
      </p:sp>
      <p:sp>
        <p:nvSpPr>
          <p:cNvPr id="28" name="دليل: الشعار والجهة"/>
          <p:cNvSpPr txBox="1"/>
          <p:nvPr/>
        </p:nvSpPr>
        <p:spPr>
          <a:xfrm>
            <a:off x="432000" y="5616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الشعار والجهة</a:t>
            </a:r>
          </a:p>
        </p:txBody>
      </p:sp>
      <p:sp>
        <p:nvSpPr>
          <p:cNvPr id="29" name="نص: الشعار والجهة"/>
          <p:cNvSpPr txBox="1"/>
          <p:nvPr/>
        </p:nvSpPr>
        <p:spPr>
          <a:xfrm>
            <a:off x="432000" y="5868000"/>
            <a:ext cx="6264000" cy="2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انقر أيقونة الصورة أعلى اليمين لإدراج شعار جهتك مرة واحدة؛ يُنسخ تلقائيًا مع تكرار الشريحة.</a:t>
            </a:r>
          </a:p>
        </p:txBody>
      </p:sp>
      <p:sp>
        <p:nvSpPr>
          <p:cNvPr id="30" name="رقم الخطوة"/>
          <p:cNvSpPr txBox="1"/>
          <p:nvPr/>
        </p:nvSpPr>
        <p:spPr>
          <a:xfrm>
            <a:off x="6840000" y="63000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6</a:t>
            </a:r>
          </a:p>
        </p:txBody>
      </p:sp>
      <p:sp>
        <p:nvSpPr>
          <p:cNvPr id="31" name="دليل: الخط"/>
          <p:cNvSpPr txBox="1"/>
          <p:nvPr/>
        </p:nvSpPr>
        <p:spPr>
          <a:xfrm>
            <a:off x="432000" y="62712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الخط</a:t>
            </a:r>
          </a:p>
        </p:txBody>
      </p:sp>
      <p:sp>
        <p:nvSpPr>
          <p:cNvPr id="32" name="نص: الخط"/>
          <p:cNvSpPr txBox="1"/>
          <p:nvPr/>
        </p:nvSpPr>
        <p:spPr>
          <a:xfrm>
            <a:off x="432000" y="65232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القالب مبني على خط IBM Plex Sans Arabic (مرفق في مجلد fonts، ترخيص مفتوح). ثبّته بالنقر المزدوج ← «تثبيت» (لا يحتاج صلاحيات مسؤول). دون تثبيته يستبدله أوفيس بخط قريب.</a:t>
            </a:r>
          </a:p>
        </p:txBody>
      </p:sp>
      <p:sp>
        <p:nvSpPr>
          <p:cNvPr id="33" name="رقم الخطوة"/>
          <p:cNvSpPr txBox="1"/>
          <p:nvPr/>
        </p:nvSpPr>
        <p:spPr>
          <a:xfrm>
            <a:off x="6840000" y="71424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7</a:t>
            </a:r>
          </a:p>
        </p:txBody>
      </p:sp>
      <p:sp>
        <p:nvSpPr>
          <p:cNvPr id="34" name="دليل: استعادة الحقول"/>
          <p:cNvSpPr txBox="1"/>
          <p:nvPr/>
        </p:nvSpPr>
        <p:spPr>
          <a:xfrm>
            <a:off x="432000" y="71136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استعادة الحقول</a:t>
            </a:r>
          </a:p>
        </p:txBody>
      </p:sp>
      <p:sp>
        <p:nvSpPr>
          <p:cNvPr id="35" name="نص: استعادة الحقول"/>
          <p:cNvSpPr txBox="1"/>
          <p:nvPr/>
        </p:nvSpPr>
        <p:spPr>
          <a:xfrm>
            <a:off x="432000" y="73656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إن حُذف حقل أو تحرّك بالخطأ: الصفحة الرئيسية ← إعادة تعيين (Reset) فتعود الحقول إلى مواضعها دون فقدان النص.</a:t>
            </a:r>
          </a:p>
        </p:txBody>
      </p:sp>
      <p:sp>
        <p:nvSpPr>
          <p:cNvPr id="36" name="رقم الخطوة"/>
          <p:cNvSpPr txBox="1"/>
          <p:nvPr/>
        </p:nvSpPr>
        <p:spPr>
          <a:xfrm>
            <a:off x="6840000" y="79848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8</a:t>
            </a:r>
          </a:p>
        </p:txBody>
      </p:sp>
      <p:sp>
        <p:nvSpPr>
          <p:cNvPr id="37" name="دليل: نصائح الكتابة"/>
          <p:cNvSpPr txBox="1"/>
          <p:nvPr/>
        </p:nvSpPr>
        <p:spPr>
          <a:xfrm>
            <a:off x="432000" y="7956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نصائح الكتابة</a:t>
            </a:r>
          </a:p>
        </p:txBody>
      </p:sp>
      <p:sp>
        <p:nvSpPr>
          <p:cNvPr id="38" name="نص: نصائح الكتابة"/>
          <p:cNvSpPr txBox="1"/>
          <p:nvPr/>
        </p:nvSpPr>
        <p:spPr>
          <a:xfrm>
            <a:off x="432000" y="8208000"/>
            <a:ext cx="6264000" cy="6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ابدأ كل مهمة بالنتيجة لا بالنشاط («نُشرت اللوحة واعتمدتها 3 إدارات» بدل «عملت على اللوحة»). خمسة عناصر كحد أقصى لكل قسم. أضف رقمًا أو تاريخًا حيث أمكن. التحديات: جملة واحدة وما فعلته حيالها. القرار المطلوب: طلب واحد واضح بموعد.</a:t>
            </a:r>
          </a:p>
        </p:txBody>
      </p:sp>
      <p:sp>
        <p:nvSpPr>
          <p:cNvPr id="39" name="تذييل الدليل"/>
          <p:cNvSpPr txBox="1"/>
          <p:nvPr/>
        </p:nvSpPr>
        <p:spPr>
          <a:xfrm>
            <a:off x="432000" y="10224000"/>
            <a:ext cx="6696000" cy="2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8A95A3"/>
                </a:solidFill>
                <a:latin typeface="IBM Plex Sans Arabic"/>
                <a:cs typeface="IBM Plex Sans Arabic"/>
              </a:rPr>
              <a:t>القالب مستوحى من الهوية البصرية لسدايا (ألوان وتدرجات وزخرفة شبكية) دون استخدام شعارها.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DAIA-inspired">
      <a:dk1>
        <a:srgbClr val="1C2B3A"/>
      </a:dk1>
      <a:lt1>
        <a:srgbClr val="FFFFFF"/>
      </a:lt1>
      <a:dk2>
        <a:srgbClr val="0B1F3F"/>
      </a:dk2>
      <a:lt2>
        <a:srgbClr val="EEF2F8"/>
      </a:lt2>
      <a:accent1>
        <a:srgbClr val="12A5A8"/>
      </a:accent1>
      <a:accent2>
        <a:srgbClr val="6CC04A"/>
      </a:accent2>
      <a:accent3>
        <a:srgbClr val="14315E"/>
      </a:accent3>
      <a:accent4>
        <a:srgbClr val="D98B1F"/>
      </a:accent4>
      <a:accent5>
        <a:srgbClr val="0E7C86"/>
      </a:accent5>
      <a:accent6>
        <a:srgbClr val="5F6B7A"/>
      </a:accent6>
      <a:hlink>
        <a:srgbClr val="0E7C86"/>
      </a:hlink>
      <a:folHlink>
        <a:srgbClr val="5F6B7A"/>
      </a:folHlink>
    </a:clrScheme>
    <a:fontScheme name="Office">
      <a:majorFont>
        <a:latin typeface="IBM Plex Sans Arabic"/>
        <a:ea typeface="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IBM Plex Sans Arabic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Arabic"/>
        <a:ea typeface="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التقرير الأسبوعي للمهام — قالب</dc:title>
  <dc:subject>قالب تقرير أسبوعي للمهام (A4 عمودي، عربي)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ar-SA</dc:language>
</cp:coreProperties>
</file>