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584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422000" y="396000"/>
            <a:ext cx="198000" cy="234000"/>
          </a:xfrm>
          <a:prstGeom prst="line">
            <a:avLst/>
          </a:prstGeom>
          <a:ln w="12700" cap="rnd">
            <a:solidFill>
              <a:srgbClr val="66CCFF">
                <a:alpha val="45000"/>
              </a:srgbClr>
            </a:solidFill>
            <a:round/>
          </a:ln>
        </p:spPr>
      </p:cxnSp>
      <p:cxnSp>
        <p:nvCxnSpPr>
          <p:cNvPr id="4" name="خط زخرفي"/>
          <p:cNvCxnSpPr/>
          <p:nvPr/>
        </p:nvCxnSpPr>
        <p:spPr>
          <a:xfrm>
            <a:off x="1620000" y="396000"/>
            <a:ext cx="216000" cy="126000"/>
          </a:xfrm>
          <a:prstGeom prst="line">
            <a:avLst/>
          </a:prstGeom>
          <a:ln w="12700" cap="rnd">
            <a:solidFill>
              <a:srgbClr val="66CCFF">
                <a:alpha val="45000"/>
              </a:srgbClr>
            </a:solidFill>
            <a:round/>
          </a:ln>
        </p:spPr>
      </p:cxnSp>
      <p:cxnSp>
        <p:nvCxnSpPr>
          <p:cNvPr id="5" name="خط زخرفي"/>
          <p:cNvCxnSpPr/>
          <p:nvPr/>
        </p:nvCxnSpPr>
        <p:spPr>
          <a:xfrm flipV="1">
            <a:off x="1836000" y="234000"/>
            <a:ext cx="198000" cy="288000"/>
          </a:xfrm>
          <a:prstGeom prst="line">
            <a:avLst/>
          </a:prstGeom>
          <a:ln w="12700" cap="rnd">
            <a:solidFill>
              <a:srgbClr val="66CCFF">
                <a:alpha val="45000"/>
              </a:srgbClr>
            </a:solidFill>
            <a:round/>
          </a:ln>
        </p:spPr>
      </p:cxnSp>
      <p:cxnSp>
        <p:nvCxnSpPr>
          <p:cNvPr id="6" name="خط زخرفي"/>
          <p:cNvCxnSpPr/>
          <p:nvPr/>
        </p:nvCxnSpPr>
        <p:spPr>
          <a:xfrm>
            <a:off x="2034000" y="234000"/>
            <a:ext cx="216000" cy="126000"/>
          </a:xfrm>
          <a:prstGeom prst="line">
            <a:avLst/>
          </a:prstGeom>
          <a:ln w="12700" cap="rnd">
            <a:solidFill>
              <a:srgbClr val="66CCFF">
                <a:alpha val="45000"/>
              </a:srgbClr>
            </a:solidFill>
            <a:round/>
          </a:ln>
        </p:spPr>
      </p:cxnSp>
      <p:cxnSp>
        <p:nvCxnSpPr>
          <p:cNvPr id="7" name="خط زخرفي"/>
          <p:cNvCxnSpPr/>
          <p:nvPr/>
        </p:nvCxnSpPr>
        <p:spPr>
          <a:xfrm flipV="1">
            <a:off x="2250000" y="108000"/>
            <a:ext cx="198000" cy="252000"/>
          </a:xfrm>
          <a:prstGeom prst="line">
            <a:avLst/>
          </a:prstGeom>
          <a:ln w="12700" cap="rnd">
            <a:solidFill>
              <a:srgbClr val="66CCFF">
                <a:alpha val="45000"/>
              </a:srgbClr>
            </a:solidFill>
            <a:round/>
          </a:ln>
        </p:spPr>
      </p:cxnSp>
      <p:cxnSp>
        <p:nvCxnSpPr>
          <p:cNvPr id="8" name="خط زخرفي"/>
          <p:cNvCxnSpPr/>
          <p:nvPr/>
        </p:nvCxnSpPr>
        <p:spPr>
          <a:xfrm>
            <a:off x="2448000" y="108000"/>
            <a:ext cx="198000" cy="144000"/>
          </a:xfrm>
          <a:prstGeom prst="line">
            <a:avLst/>
          </a:prstGeom>
          <a:ln w="12700" cap="rnd">
            <a:solidFill>
              <a:srgbClr val="66CCFF">
                <a:alpha val="45000"/>
              </a:srgbClr>
            </a:solidFill>
            <a:round/>
          </a:ln>
        </p:spPr>
      </p:cxnSp>
      <p:cxnSp>
        <p:nvCxnSpPr>
          <p:cNvPr id="9" name="خط زخرفي"/>
          <p:cNvCxnSpPr/>
          <p:nvPr/>
        </p:nvCxnSpPr>
        <p:spPr>
          <a:xfrm flipV="1">
            <a:off x="2646000" y="93600"/>
            <a:ext cx="180000" cy="158400"/>
          </a:xfrm>
          <a:prstGeom prst="line">
            <a:avLst/>
          </a:prstGeom>
          <a:ln w="12700" cap="rnd">
            <a:solidFill>
              <a:srgbClr val="66CCFF">
                <a:alpha val="45000"/>
              </a:srgbClr>
            </a:solidFill>
            <a:round/>
          </a:ln>
        </p:spPr>
      </p:cxnSp>
      <p:cxnSp>
        <p:nvCxnSpPr>
          <p:cNvPr id="10" name="خط زخرفي"/>
          <p:cNvCxnSpPr/>
          <p:nvPr/>
        </p:nvCxnSpPr>
        <p:spPr>
          <a:xfrm>
            <a:off x="1836000" y="522000"/>
            <a:ext cx="126000" cy="252000"/>
          </a:xfrm>
          <a:prstGeom prst="line">
            <a:avLst/>
          </a:prstGeom>
          <a:ln w="12700" cap="rnd">
            <a:solidFill>
              <a:srgbClr val="66CCFF">
                <a:alpha val="45000"/>
              </a:srgbClr>
            </a:solidFill>
            <a:round/>
          </a:ln>
        </p:spPr>
      </p:cxnSp>
      <p:cxnSp>
        <p:nvCxnSpPr>
          <p:cNvPr id="11" name="خط زخرفي"/>
          <p:cNvCxnSpPr/>
          <p:nvPr/>
        </p:nvCxnSpPr>
        <p:spPr>
          <a:xfrm>
            <a:off x="2250000" y="360000"/>
            <a:ext cx="108000" cy="234000"/>
          </a:xfrm>
          <a:prstGeom prst="line">
            <a:avLst/>
          </a:prstGeom>
          <a:ln w="12700" cap="rnd">
            <a:solidFill>
              <a:srgbClr val="66CCFF">
                <a:alpha val="45000"/>
              </a:srgbClr>
            </a:solidFill>
            <a:round/>
          </a:ln>
        </p:spPr>
      </p:cxnSp>
      <p:sp>
        <p:nvSpPr>
          <p:cNvPr id="12" name="عقدة زخرفية"/>
          <p:cNvSpPr/>
          <p:nvPr/>
        </p:nvSpPr>
        <p:spPr>
          <a:xfrm>
            <a:off x="1364400" y="572400"/>
            <a:ext cx="115200" cy="115200"/>
          </a:xfrm>
          <a:prstGeom prst="ellipse">
            <a:avLst/>
          </a:prstGeom>
          <a:solidFill>
            <a:srgbClr val="66CCFF">
              <a:alpha val="55000"/>
            </a:srgbClr>
          </a:solidFill>
          <a:ln>
            <a:noFill/>
          </a:ln>
        </p:spPr>
      </p:sp>
      <p:sp>
        <p:nvSpPr>
          <p:cNvPr id="13" name="عقدة زخرفية"/>
          <p:cNvSpPr/>
          <p:nvPr/>
        </p:nvSpPr>
        <p:spPr>
          <a:xfrm>
            <a:off x="1584000" y="360000"/>
            <a:ext cx="72000" cy="72000"/>
          </a:xfrm>
          <a:prstGeom prst="ellipse">
            <a:avLst/>
          </a:prstGeom>
          <a:solidFill>
            <a:srgbClr val="66CCFF">
              <a:alpha val="55000"/>
            </a:srgbClr>
          </a:solidFill>
          <a:ln>
            <a:noFill/>
          </a:ln>
        </p:spPr>
      </p:sp>
      <p:sp>
        <p:nvSpPr>
          <p:cNvPr id="14" name="عقدة زخرفية"/>
          <p:cNvSpPr/>
          <p:nvPr/>
        </p:nvSpPr>
        <p:spPr>
          <a:xfrm>
            <a:off x="1800000" y="486000"/>
            <a:ext cx="72000" cy="72000"/>
          </a:xfrm>
          <a:prstGeom prst="ellipse">
            <a:avLst/>
          </a:prstGeom>
          <a:solidFill>
            <a:srgbClr val="66CCFF">
              <a:alpha val="55000"/>
            </a:srgbClr>
          </a:solidFill>
          <a:ln>
            <a:noFill/>
          </a:ln>
        </p:spPr>
      </p:sp>
      <p:sp>
        <p:nvSpPr>
          <p:cNvPr id="15" name="عقدة زخرفية"/>
          <p:cNvSpPr/>
          <p:nvPr/>
        </p:nvSpPr>
        <p:spPr>
          <a:xfrm>
            <a:off x="1976400" y="176400"/>
            <a:ext cx="115200" cy="115200"/>
          </a:xfrm>
          <a:prstGeom prst="ellipse">
            <a:avLst/>
          </a:prstGeom>
          <a:solidFill>
            <a:srgbClr val="33CC99">
              <a:alpha val="55000"/>
            </a:srgbClr>
          </a:solidFill>
          <a:ln>
            <a:noFill/>
          </a:ln>
        </p:spPr>
      </p:sp>
      <p:sp>
        <p:nvSpPr>
          <p:cNvPr id="16" name="عقدة زخرفية"/>
          <p:cNvSpPr/>
          <p:nvPr/>
        </p:nvSpPr>
        <p:spPr>
          <a:xfrm>
            <a:off x="2214000" y="324000"/>
            <a:ext cx="72000" cy="72000"/>
          </a:xfrm>
          <a:prstGeom prst="ellipse">
            <a:avLst/>
          </a:prstGeom>
          <a:solidFill>
            <a:srgbClr val="66CCFF">
              <a:alpha val="55000"/>
            </a:srgbClr>
          </a:solidFill>
          <a:ln>
            <a:noFill/>
          </a:ln>
        </p:spPr>
      </p:sp>
      <p:sp>
        <p:nvSpPr>
          <p:cNvPr id="17" name="عقدة زخرفية"/>
          <p:cNvSpPr/>
          <p:nvPr/>
        </p:nvSpPr>
        <p:spPr>
          <a:xfrm>
            <a:off x="2412000" y="72000"/>
            <a:ext cx="72000" cy="72000"/>
          </a:xfrm>
          <a:prstGeom prst="ellipse">
            <a:avLst/>
          </a:prstGeom>
          <a:solidFill>
            <a:srgbClr val="66CCFF">
              <a:alpha val="55000"/>
            </a:srgbClr>
          </a:solidFill>
          <a:ln>
            <a:noFill/>
          </a:ln>
        </p:spPr>
      </p:sp>
      <p:sp>
        <p:nvSpPr>
          <p:cNvPr id="18" name="عقدة زخرفية"/>
          <p:cNvSpPr/>
          <p:nvPr/>
        </p:nvSpPr>
        <p:spPr>
          <a:xfrm>
            <a:off x="2588400" y="194400"/>
            <a:ext cx="115200" cy="115200"/>
          </a:xfrm>
          <a:prstGeom prst="ellipse">
            <a:avLst/>
          </a:prstGeom>
          <a:solidFill>
            <a:srgbClr val="6459A7">
              <a:alpha val="55000"/>
            </a:srgbClr>
          </a:solidFill>
          <a:ln>
            <a:noFill/>
          </a:ln>
        </p:spPr>
      </p:sp>
      <p:sp>
        <p:nvSpPr>
          <p:cNvPr id="19" name="عقدة زخرفية"/>
          <p:cNvSpPr/>
          <p:nvPr/>
        </p:nvSpPr>
        <p:spPr>
          <a:xfrm>
            <a:off x="2790000" y="57600"/>
            <a:ext cx="72000" cy="72000"/>
          </a:xfrm>
          <a:prstGeom prst="ellipse">
            <a:avLst/>
          </a:prstGeom>
          <a:solidFill>
            <a:srgbClr val="66CCFF">
              <a:alpha val="55000"/>
            </a:srgbClr>
          </a:solidFill>
          <a:ln>
            <a:noFill/>
          </a:ln>
        </p:spPr>
      </p:sp>
      <p:sp>
        <p:nvSpPr>
          <p:cNvPr id="20" name="عقدة زخرفية"/>
          <p:cNvSpPr/>
          <p:nvPr/>
        </p:nvSpPr>
        <p:spPr>
          <a:xfrm>
            <a:off x="1926000" y="738000"/>
            <a:ext cx="72000" cy="72000"/>
          </a:xfrm>
          <a:prstGeom prst="ellipse">
            <a:avLst/>
          </a:prstGeom>
          <a:solidFill>
            <a:srgbClr val="66CCFF">
              <a:alpha val="55000"/>
            </a:srgbClr>
          </a:solidFill>
          <a:ln>
            <a:noFill/>
          </a:ln>
        </p:spPr>
      </p:sp>
      <p:sp>
        <p:nvSpPr>
          <p:cNvPr id="21" name="عقدة زخرفية"/>
          <p:cNvSpPr/>
          <p:nvPr/>
        </p:nvSpPr>
        <p:spPr>
          <a:xfrm>
            <a:off x="2300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180000"/>
            <a:ext cx="1080000" cy="540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588000" y="180000"/>
            <a:ext cx="540000" cy="540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99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الفترة"/>
          <p:cNvSpPr>
            <a:spLocks noGrp="1"/>
          </p:cNvSpPr>
          <p:nvPr>
            <p:ph type="body" sz="quarter" idx="102" hasCustomPrompt="1"/>
          </p:nvPr>
        </p:nvSpPr>
        <p:spPr>
          <a:xfrm>
            <a:off x="499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من … إلى … (الأسبوع …)</a:t>
            </a:r>
          </a:p>
        </p:txBody>
      </p:sp>
      <p:sp>
        <p:nvSpPr>
          <p:cNvPr id="28" name="تسمية: إعداد"/>
          <p:cNvSpPr txBox="1"/>
          <p:nvPr/>
        </p:nvSpPr>
        <p:spPr>
          <a:xfrm>
            <a:off x="271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29" name="إعداد"/>
          <p:cNvSpPr>
            <a:spLocks noGrp="1"/>
          </p:cNvSpPr>
          <p:nvPr>
            <p:ph type="body" sz="quarter" idx="103" hasCustomPrompt="1"/>
          </p:nvPr>
        </p:nvSpPr>
        <p:spPr>
          <a:xfrm>
            <a:off x="271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0" name="تسمية: مقدَّم إلى"/>
          <p:cNvSpPr txBox="1"/>
          <p:nvPr/>
        </p:nvSpPr>
        <p:spPr>
          <a:xfrm>
            <a:off x="43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1" name="مقدَّم إلى"/>
          <p:cNvSpPr>
            <a:spLocks noGrp="1"/>
          </p:cNvSpPr>
          <p:nvPr>
            <p:ph type="body" sz="quarter" idx="104" hasCustomPrompt="1"/>
          </p:nvPr>
        </p:nvSpPr>
        <p:spPr>
          <a:xfrm>
            <a:off x="43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2" name="تسمية الخلاصة"/>
          <p:cNvSpPr txBox="1"/>
          <p:nvPr/>
        </p:nvSpPr>
        <p:spPr>
          <a:xfrm>
            <a:off x="2988000" y="1800000"/>
            <a:ext cx="4140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3" name="خلاصة الأسبوع"/>
          <p:cNvSpPr>
            <a:spLocks noGrp="1"/>
          </p:cNvSpPr>
          <p:nvPr>
            <p:ph type="body" sz="quarter" idx="105" hasCustomPrompt="1"/>
          </p:nvPr>
        </p:nvSpPr>
        <p:spPr>
          <a:xfrm>
            <a:off x="2988000" y="1998000"/>
            <a:ext cx="4140000" cy="86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4" name="بطاقة مهام منجزة"/>
          <p:cNvSpPr/>
          <p:nvPr/>
        </p:nvSpPr>
        <p:spPr>
          <a:xfrm>
            <a:off x="2088000" y="1800000"/>
            <a:ext cx="684000" cy="1008000"/>
          </a:xfrm>
          <a:prstGeom prst="roundRect">
            <a:avLst>
              <a:gd name="adj" fmla="val 8000"/>
            </a:avLst>
          </a:prstGeom>
          <a:solidFill>
            <a:srgbClr val="EEF0F8"/>
          </a:solidFill>
          <a:ln w="6350">
            <a:solidFill>
              <a:srgbClr val="C9CFD9"/>
            </a:solidFill>
          </a:ln>
        </p:spPr>
      </p:sp>
      <p:sp>
        <p:nvSpPr>
          <p:cNvPr id="35" name="عدد مهام منجزة"/>
          <p:cNvSpPr>
            <a:spLocks noGrp="1"/>
          </p:cNvSpPr>
          <p:nvPr>
            <p:ph type="body" sz="quarter" idx="106" hasCustomPrompt="1"/>
          </p:nvPr>
        </p:nvSpPr>
        <p:spPr>
          <a:xfrm>
            <a:off x="2088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6" name="تسمية مهام منجزة"/>
          <p:cNvSpPr txBox="1"/>
          <p:nvPr/>
        </p:nvSpPr>
        <p:spPr>
          <a:xfrm>
            <a:off x="2052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37" name="بطاقة مهام جارية"/>
          <p:cNvSpPr/>
          <p:nvPr/>
        </p:nvSpPr>
        <p:spPr>
          <a:xfrm>
            <a:off x="1260000" y="1800000"/>
            <a:ext cx="684000" cy="1008000"/>
          </a:xfrm>
          <a:prstGeom prst="roundRect">
            <a:avLst>
              <a:gd name="adj" fmla="val 8000"/>
            </a:avLst>
          </a:prstGeom>
          <a:solidFill>
            <a:srgbClr val="EEF0F8"/>
          </a:solidFill>
          <a:ln w="6350">
            <a:solidFill>
              <a:srgbClr val="C9CFD9"/>
            </a:solidFill>
          </a:ln>
        </p:spPr>
      </p:sp>
      <p:sp>
        <p:nvSpPr>
          <p:cNvPr id="38" name="عدد مهام جارية"/>
          <p:cNvSpPr>
            <a:spLocks noGrp="1"/>
          </p:cNvSpPr>
          <p:nvPr>
            <p:ph type="body" sz="quarter" idx="107" hasCustomPrompt="1"/>
          </p:nvPr>
        </p:nvSpPr>
        <p:spPr>
          <a:xfrm>
            <a:off x="1260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جارية"/>
          <p:cNvSpPr txBox="1"/>
          <p:nvPr/>
        </p:nvSpPr>
        <p:spPr>
          <a:xfrm>
            <a:off x="1224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0" name="بطاقة مهام مقبلة"/>
          <p:cNvSpPr/>
          <p:nvPr/>
        </p:nvSpPr>
        <p:spPr>
          <a:xfrm>
            <a:off x="432000" y="1800000"/>
            <a:ext cx="684000" cy="1008000"/>
          </a:xfrm>
          <a:prstGeom prst="roundRect">
            <a:avLst>
              <a:gd name="adj" fmla="val 8000"/>
            </a:avLst>
          </a:prstGeom>
          <a:solidFill>
            <a:srgbClr val="EEF0F8"/>
          </a:solidFill>
          <a:ln w="6350">
            <a:solidFill>
              <a:srgbClr val="C9CFD9"/>
            </a:solidFill>
          </a:ln>
        </p:spPr>
      </p:sp>
      <p:sp>
        <p:nvSpPr>
          <p:cNvPr id="41" name="عدد مهام مقبلة"/>
          <p:cNvSpPr>
            <a:spLocks noGrp="1"/>
          </p:cNvSpPr>
          <p:nvPr>
            <p:ph type="body" sz="quarter" idx="108" hasCustomPrompt="1"/>
          </p:nvPr>
        </p:nvSpPr>
        <p:spPr>
          <a:xfrm>
            <a:off x="432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6459A7"/>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مقبلة"/>
          <p:cNvSpPr txBox="1"/>
          <p:nvPr/>
        </p:nvSpPr>
        <p:spPr>
          <a:xfrm>
            <a:off x="396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مقبلة</a:t>
            </a:r>
          </a:p>
        </p:txBody>
      </p:sp>
      <p:sp>
        <p:nvSpPr>
          <p:cNvPr id="43" name="أيقونة قسم"/>
          <p:cNvSpPr/>
          <p:nvPr/>
        </p:nvSpPr>
        <p:spPr>
          <a:xfrm>
            <a:off x="6984000" y="3117600"/>
            <a:ext cx="144000" cy="144000"/>
          </a:xfrm>
          <a:prstGeom prst="ellipse">
            <a:avLst/>
          </a:prstGeom>
          <a:solidFill>
            <a:srgbClr val="127A5B"/>
          </a:solidFill>
          <a:ln>
            <a:noFill/>
          </a:ln>
        </p:spPr>
      </p:sp>
      <p:sp>
        <p:nvSpPr>
          <p:cNvPr id="44" name="أيقونة قسم داخلية"/>
          <p:cNvSpPr/>
          <p:nvPr/>
        </p:nvSpPr>
        <p:spPr>
          <a:xfrm>
            <a:off x="7029000" y="3162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04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33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خمسة بنود كحد أقصى.</a:t>
            </a:r>
          </a:p>
        </p:txBody>
      </p:sp>
      <p:sp>
        <p:nvSpPr>
          <p:cNvPr id="47" name="أيقونة قسم"/>
          <p:cNvSpPr/>
          <p:nvPr/>
        </p:nvSpPr>
        <p:spPr>
          <a:xfrm>
            <a:off x="6984000" y="4881600"/>
            <a:ext cx="144000" cy="144000"/>
          </a:xfrm>
          <a:prstGeom prst="ellipse">
            <a:avLst/>
          </a:prstGeom>
          <a:solidFill>
            <a:srgbClr val="0C7373"/>
          </a:solidFill>
          <a:ln>
            <a:noFill/>
          </a:ln>
        </p:spPr>
      </p:sp>
      <p:sp>
        <p:nvSpPr>
          <p:cNvPr id="48" name="أيقونة قسم داخلية"/>
          <p:cNvSpPr/>
          <p:nvPr/>
        </p:nvSpPr>
        <p:spPr>
          <a:xfrm>
            <a:off x="7029000" y="4926600"/>
            <a:ext cx="54000" cy="54000"/>
          </a:xfrm>
          <a:prstGeom prst="ellipse">
            <a:avLst/>
          </a:prstGeom>
          <a:solidFill>
            <a:srgbClr val="FFFFFF"/>
          </a:solidFill>
          <a:ln>
            <a:noFill/>
          </a:ln>
        </p:spPr>
      </p:sp>
      <p:sp>
        <p:nvSpPr>
          <p:cNvPr id="49" name="عنوان قسم: المهام الجارية"/>
          <p:cNvSpPr txBox="1"/>
          <p:nvPr/>
        </p:nvSpPr>
        <p:spPr>
          <a:xfrm>
            <a:off x="2214000" y="4809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أيقونة قسم"/>
          <p:cNvSpPr/>
          <p:nvPr/>
        </p:nvSpPr>
        <p:spPr>
          <a:xfrm>
            <a:off x="6984000" y="6897600"/>
            <a:ext cx="144000" cy="144000"/>
          </a:xfrm>
          <a:prstGeom prst="ellipse">
            <a:avLst/>
          </a:prstGeom>
          <a:solidFill>
            <a:srgbClr val="6459A7"/>
          </a:solidFill>
          <a:ln>
            <a:noFill/>
          </a:ln>
        </p:spPr>
      </p:sp>
      <p:sp>
        <p:nvSpPr>
          <p:cNvPr id="51" name="أيقونة قسم داخلية"/>
          <p:cNvSpPr/>
          <p:nvPr/>
        </p:nvSpPr>
        <p:spPr>
          <a:xfrm>
            <a:off x="7029000" y="6942600"/>
            <a:ext cx="54000" cy="54000"/>
          </a:xfrm>
          <a:prstGeom prst="ellipse">
            <a:avLst/>
          </a:prstGeom>
          <a:solidFill>
            <a:srgbClr val="FFFFFF"/>
          </a:solidFill>
          <a:ln>
            <a:noFill/>
          </a:ln>
        </p:spPr>
      </p:sp>
      <p:sp>
        <p:nvSpPr>
          <p:cNvPr id="52" name="عنوان قسم: خطة الأسبوع المقبل"/>
          <p:cNvSpPr txBox="1"/>
          <p:nvPr/>
        </p:nvSpPr>
        <p:spPr>
          <a:xfrm>
            <a:off x="2214000" y="682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خطة الأسبوع المقبل</a:t>
            </a:r>
          </a:p>
        </p:txBody>
      </p:sp>
      <p:sp>
        <p:nvSpPr>
          <p:cNvPr id="53" name="خطة الأسبوع المقبل"/>
          <p:cNvSpPr>
            <a:spLocks noGrp="1"/>
          </p:cNvSpPr>
          <p:nvPr>
            <p:ph type="body" sz="quarter" idx="110" hasCustomPrompt="1"/>
          </p:nvPr>
        </p:nvSpPr>
        <p:spPr>
          <a:xfrm>
            <a:off x="432000" y="711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6459A7"/>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مهام الأسبوع المقبل، مهمة في كل سطر: النتيجة المتوقعة + اليوم. خمسة بنود كحد أقصى.</a:t>
            </a:r>
          </a:p>
        </p:txBody>
      </p:sp>
      <p:sp>
        <p:nvSpPr>
          <p:cNvPr id="54" name="صندوق القرار"/>
          <p:cNvSpPr/>
          <p:nvPr/>
        </p:nvSpPr>
        <p:spPr>
          <a:xfrm>
            <a:off x="3708000" y="8568000"/>
            <a:ext cx="3420000" cy="1404000"/>
          </a:xfrm>
          <a:prstGeom prst="roundRect">
            <a:avLst>
              <a:gd name="adj" fmla="val 5000"/>
            </a:avLst>
          </a:prstGeom>
          <a:solidFill>
            <a:srgbClr val="E8F7F1"/>
          </a:solidFill>
          <a:ln w="9525">
            <a:solidFill>
              <a:srgbClr val="0C7373"/>
            </a:solidFill>
          </a:ln>
        </p:spPr>
      </p:sp>
      <p:sp>
        <p:nvSpPr>
          <p:cNvPr id="55" name="تسمية القرار"/>
          <p:cNvSpPr txBox="1"/>
          <p:nvPr/>
        </p:nvSpPr>
        <p:spPr>
          <a:xfrm>
            <a:off x="3852000" y="8640000"/>
            <a:ext cx="3132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200" b="1" dirty="0">
                <a:solidFill>
                  <a:srgbClr val="0C7373"/>
                </a:solidFill>
                <a:latin typeface="IBM Plex Sans Arabic"/>
                <a:cs typeface="IBM Plex Sans Arabic"/>
              </a:rPr>
              <a:t>قرار أو دعم مطلوب من المدير</a:t>
            </a:r>
          </a:p>
        </p:txBody>
      </p:sp>
      <p:sp>
        <p:nvSpPr>
          <p:cNvPr id="56" name="القرار المطلوب"/>
          <p:cNvSpPr>
            <a:spLocks noGrp="1"/>
          </p:cNvSpPr>
          <p:nvPr>
            <p:ph type="body" sz="quarter" idx="111" hasCustomPrompt="1"/>
          </p:nvPr>
        </p:nvSpPr>
        <p:spPr>
          <a:xfrm>
            <a:off x="3852000" y="8910000"/>
            <a:ext cx="3132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المطلوب: … | المهلة: (التاريخ) | أثر التأخير: … (إن لم يوجد، اكتب: لا يوجد قرار مطلوب)</a:t>
            </a:r>
          </a:p>
        </p:txBody>
      </p:sp>
      <p:sp>
        <p:nvSpPr>
          <p:cNvPr id="57" name="صندوق التحديات"/>
          <p:cNvSpPr/>
          <p:nvPr/>
        </p:nvSpPr>
        <p:spPr>
          <a:xfrm>
            <a:off x="432000" y="8568000"/>
            <a:ext cx="3132000" cy="1404000"/>
          </a:xfrm>
          <a:prstGeom prst="roundRect">
            <a:avLst>
              <a:gd name="adj" fmla="val 5000"/>
            </a:avLst>
          </a:prstGeom>
          <a:solidFill>
            <a:srgbClr val="F4F5F7"/>
          </a:solidFill>
          <a:ln w="6350">
            <a:solidFill>
              <a:srgbClr val="C9CFD9"/>
            </a:solidFill>
          </a:ln>
        </p:spPr>
      </p:sp>
      <p:sp>
        <p:nvSpPr>
          <p:cNvPr id="58" name="تسمية التحديات"/>
          <p:cNvSpPr txBox="1"/>
          <p:nvPr/>
        </p:nvSpPr>
        <p:spPr>
          <a:xfrm>
            <a:off x="576000" y="8640000"/>
            <a:ext cx="2844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9" name="التحديات"/>
          <p:cNvSpPr>
            <a:spLocks noGrp="1"/>
          </p:cNvSpPr>
          <p:nvPr>
            <p:ph type="body" sz="quarter" idx="112" hasCustomPrompt="1"/>
          </p:nvPr>
        </p:nvSpPr>
        <p:spPr>
          <a:xfrm>
            <a:off x="576000" y="8910000"/>
            <a:ext cx="2844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 المدير؟ (إن لم يوجد، اكتب: لا توجد تحديات)</a:t>
            </a:r>
          </a:p>
        </p:txBody>
      </p:sp>
      <p:cxnSp>
        <p:nvCxnSpPr>
          <p:cNvPr id="60" name="فاصل التذييل"/>
          <p:cNvCxnSpPr/>
          <p:nvPr/>
        </p:nvCxnSpPr>
        <p:spPr>
          <a:xfrm>
            <a:off x="432000" y="10134000"/>
            <a:ext cx="6696000" cy="0"/>
          </a:xfrm>
          <a:prstGeom prst="line">
            <a:avLst/>
          </a:prstGeom>
          <a:ln w="9525" cap="rnd">
            <a:solidFill>
              <a:srgbClr val="BFC6D1"/>
            </a:solidFill>
            <a:round/>
          </a:ln>
        </p:spPr>
      </p:cxnSp>
      <p:sp>
        <p:nvSpPr>
          <p:cNvPr id="61" name="تسمية الاسم:"/>
          <p:cNvSpPr txBox="1"/>
          <p:nvPr/>
        </p:nvSpPr>
        <p:spPr>
          <a:xfrm>
            <a:off x="6660000" y="10206000"/>
            <a:ext cx="468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الاسم:</a:t>
            </a:r>
          </a:p>
        </p:txBody>
      </p:sp>
      <p:sp>
        <p:nvSpPr>
          <p:cNvPr id="62" name="اسم المُعِد"/>
          <p:cNvSpPr>
            <a:spLocks noGrp="1"/>
          </p:cNvSpPr>
          <p:nvPr>
            <p:ph type="body" sz="quarter" idx="113" hasCustomPrompt="1"/>
          </p:nvPr>
        </p:nvSpPr>
        <p:spPr>
          <a:xfrm>
            <a:off x="5220000" y="10206000"/>
            <a:ext cx="144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الاسم</a:t>
            </a:r>
          </a:p>
        </p:txBody>
      </p:sp>
      <p:cxnSp>
        <p:nvCxnSpPr>
          <p:cNvPr id="63" name="خط الاسم"/>
          <p:cNvCxnSpPr/>
          <p:nvPr/>
        </p:nvCxnSpPr>
        <p:spPr>
          <a:xfrm>
            <a:off x="5256000" y="10414800"/>
            <a:ext cx="1368000" cy="0"/>
          </a:xfrm>
          <a:prstGeom prst="line">
            <a:avLst/>
          </a:prstGeom>
          <a:ln w="9525" cap="rnd">
            <a:solidFill>
              <a:srgbClr val="BFC6D1"/>
            </a:solidFill>
            <a:round/>
          </a:ln>
        </p:spPr>
      </p:cxnSp>
      <p:sp>
        <p:nvSpPr>
          <p:cNvPr id="64" name="تسمية التوقيع:"/>
          <p:cNvSpPr txBox="1"/>
          <p:nvPr/>
        </p:nvSpPr>
        <p:spPr>
          <a:xfrm>
            <a:off x="4572000" y="10206000"/>
            <a:ext cx="540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التوقيع:</a:t>
            </a:r>
          </a:p>
        </p:txBody>
      </p:sp>
      <p:cxnSp>
        <p:nvCxnSpPr>
          <p:cNvPr id="65" name="خط التوقيع"/>
          <p:cNvCxnSpPr/>
          <p:nvPr/>
        </p:nvCxnSpPr>
        <p:spPr>
          <a:xfrm>
            <a:off x="3348000" y="10414800"/>
            <a:ext cx="1188000" cy="0"/>
          </a:xfrm>
          <a:prstGeom prst="line">
            <a:avLst/>
          </a:prstGeom>
          <a:ln w="9525" cap="rnd">
            <a:solidFill>
              <a:srgbClr val="BFC6D1"/>
            </a:solidFill>
            <a:round/>
          </a:ln>
        </p:spPr>
      </p:cxnSp>
      <p:sp>
        <p:nvSpPr>
          <p:cNvPr id="66" name="تسمية التاريخ:"/>
          <p:cNvSpPr txBox="1"/>
          <p:nvPr/>
        </p:nvSpPr>
        <p:spPr>
          <a:xfrm>
            <a:off x="2736000" y="10206000"/>
            <a:ext cx="504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التاريخ:</a:t>
            </a:r>
          </a:p>
        </p:txBody>
      </p:sp>
      <p:sp>
        <p:nvSpPr>
          <p:cNvPr id="67" name="تاريخ التوقيع"/>
          <p:cNvSpPr>
            <a:spLocks noGrp="1"/>
          </p:cNvSpPr>
          <p:nvPr>
            <p:ph type="body" sz="quarter" idx="114" hasCustomPrompt="1"/>
          </p:nvPr>
        </p:nvSpPr>
        <p:spPr>
          <a:xfrm>
            <a:off x="1656000" y="10206000"/>
            <a:ext cx="108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اليوم الشهر السنة</a:t>
            </a:r>
          </a:p>
        </p:txBody>
      </p:sp>
      <p:cxnSp>
        <p:nvCxnSpPr>
          <p:cNvPr id="68" name="خط التاريخ"/>
          <p:cNvCxnSpPr/>
          <p:nvPr/>
        </p:nvCxnSpPr>
        <p:spPr>
          <a:xfrm>
            <a:off x="1692000" y="10414800"/>
            <a:ext cx="1008000" cy="0"/>
          </a:xfrm>
          <a:prstGeom prst="line">
            <a:avLst/>
          </a:prstGeom>
          <a:ln w="9525" cap="rnd">
            <a:solidFill>
              <a:srgbClr val="BFC6D1"/>
            </a:solidFill>
            <a:round/>
          </a:ln>
        </p:spPr>
      </p:cxnSp>
      <p:sp>
        <p:nvSpPr>
          <p:cNvPr id="69" name="نص التذييل الثابت"/>
          <p:cNvSpPr txBox="1"/>
          <p:nvPr/>
        </p:nvSpPr>
        <p:spPr>
          <a:xfrm>
            <a:off x="432000" y="10206000"/>
            <a:ext cx="1152000" cy="252000"/>
          </a:xfrm>
          <a:prstGeom prst="rect">
            <a:avLst/>
          </a:prstGeom>
          <a:noFill/>
          <a:ln>
            <a:noFill/>
          </a:ln>
        </p:spPr>
        <p:txBody>
          <a:bodyPr wrap="square" lIns="0" tIns="0" rIns="0" bIns="0" rtlCol="0" anchor="ctr"/>
          <a:lstStyle/>
          <a:p>
            <a:pPr marL="0" indent="0" algn="l" rtl="1">
              <a:lnSpc>
                <a:spcPct val="100000"/>
              </a:lnSpc>
              <a:spcBef>
                <a:spcPts val="0"/>
              </a:spcBef>
              <a:spcAft>
                <a:spcPts val="0"/>
              </a:spcAft>
              <a:buNone/>
            </a:pPr>
            <a:r>
              <a:rPr lang="ar-SA" sz="900" dirty="0">
                <a:solidFill>
                  <a:srgbClr val="6C727E"/>
                </a:solidFill>
                <a:latin typeface="IBM Plex Sans Arabic"/>
                <a:cs typeface="IBM Plex Sans Arabic"/>
              </a:rPr>
              <a:t>للاستخدام الداخلي</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a:t>
            </a:r>
          </a:p>
        </p:txBody>
      </p:sp>
      <p:sp>
        <p:nvSpPr>
          <p:cNvPr id="4" name="الفترة"/>
          <p:cNvSpPr>
            <a:spLocks noGrp="1"/>
          </p:cNvSpPr>
          <p:nvPr>
            <p:ph type="body" idx="102" sz="quarter"/>
          </p:nvPr>
        </p:nvSpPr>
        <p:spPr/>
        <p:txBody>
          <a:bodyPr wrap="square" lIns="0" tIns="0" rIns="0" bIns="0" rtlCol="0" anchor="t">
            <a:normAutofit/>
          </a:bodyPr>
          <a:lstStyle/>
          <a:p>
            <a:pPr algn="r" rtl="1"/>
            <a:r>
              <a:rPr lang="ar-SA" dirty="0"/>
              <a:t>من 25 إلى 29 أكتوبر 2026 (الأسبوع 44)</a:t>
            </a:r>
          </a:p>
        </p:txBody>
      </p:sp>
      <p:sp>
        <p:nvSpPr>
          <p:cNvPr id="5"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6"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7" name="خلاصة الأسبوع"/>
          <p:cNvSpPr>
            <a:spLocks noGrp="1"/>
          </p:cNvSpPr>
          <p:nvPr>
            <p:ph type="body" idx="105" sz="quarter"/>
          </p:nvPr>
        </p:nvSpPr>
        <p:spPr/>
        <p:txBody>
          <a:bodyPr wrap="square" lIns="0" tIns="0" rIns="0" bIns="0" rtlCol="0" anchor="t">
            <a:normAutofit/>
          </a:bodyPr>
          <a:lstStyle/>
          <a:p>
            <a:pPr algn="r" rtl="1"/>
            <a:r>
              <a:rPr lang="ar-SA" dirty="0"/>
              <a:t>أُطلقت لوحة مؤشرات الأداء واعتمدتها 3 إدارات، وأُنجزت 4 مهام. مهمتان على المسار ومهمة (تكامل الموارد البشرية) متأخرة أسبوعًا. مطلوب اعتماد طلب ACC-214 قبل الاثنين 2 نوفمبر (أدناه).</a:t>
            </a:r>
          </a:p>
        </p:txBody>
      </p:sp>
      <p:sp>
        <p:nvSpPr>
          <p:cNvPr id="8"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9"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0" name="عدد المهام المقبلة"/>
          <p:cNvSpPr>
            <a:spLocks noGrp="1"/>
          </p:cNvSpPr>
          <p:nvPr>
            <p:ph type="body" idx="108" sz="quarter"/>
          </p:nvPr>
        </p:nvSpPr>
        <p:spPr/>
        <p:txBody>
          <a:bodyPr wrap="square" lIns="0" tIns="0" rIns="0" bIns="0" rtlCol="0" anchor="ctr">
            <a:normAutofit/>
          </a:bodyPr>
          <a:lstStyle/>
          <a:p>
            <a:pPr algn="ctr" rtl="1"/>
            <a:r>
              <a:rPr lang="ar-SA" dirty="0"/>
              <a:t>4</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إطلاق لوحة مؤشرات الأداء</a:t>
            </a:r>
            <a:r>
              <a:rPr lang="ar-SA" dirty="0"/>
              <a:t> — نُشرت على بيئة الإنتاج واعتمدتها 3 إدارات.</a:t>
            </a:r>
          </a:p>
          <a:p>
            <a:pPr marL="162000" indent="-162000" algn="r" rtl="1">
              <a:buClr>
                <a:srgbClr val="127A5B"/>
              </a:buClr>
              <a:buSzPct val="110000"/>
              <a:buFont typeface="Arial" pitchFamily="34" charset="0"/>
              <a:buChar char="•"/>
            </a:pPr>
            <a:r>
              <a:rPr lang="ar-SA" b="1" dirty="0">
                <a:latin typeface="IBM Plex Sans Arabic"/>
                <a:cs typeface="IBM Plex Sans Arabic"/>
              </a:rPr>
              <a:t>تنقية بيانات المستفيدين</a:t>
            </a:r>
            <a:r>
              <a:rPr lang="ar-SA" dirty="0"/>
              <a:t> — انخفضت السجلات المكررة بنسبة 18٪ (من 9,400 إلى 7,700 سجل).</a:t>
            </a:r>
          </a:p>
          <a:p>
            <a:pPr marL="162000" indent="-162000" algn="r" rtl="1">
              <a:buClr>
                <a:srgbClr val="127A5B"/>
              </a:buClr>
              <a:buSzPct val="110000"/>
              <a:buFont typeface="Arial" pitchFamily="34" charset="0"/>
              <a:buChar char="•"/>
            </a:pPr>
            <a:r>
              <a:rPr lang="ar-SA" b="1" dirty="0">
                <a:latin typeface="IBM Plex Sans Arabic"/>
                <a:cs typeface="IBM Plex Sans Arabic"/>
              </a:rPr>
              <a:t>ورشة سياسة حوكمة البيانات</a:t>
            </a:r>
            <a:r>
              <a:rPr lang="ar-SA" dirty="0"/>
              <a:t> — 24 مشاركًا، تقييم 4.6 من 5، واعتُمدت 3 بنود من السياسة.</a:t>
            </a:r>
          </a:p>
          <a:p>
            <a:pPr marL="162000" indent="-162000" algn="r" rtl="1">
              <a:buClr>
                <a:srgbClr val="127A5B"/>
              </a:buClr>
              <a:buSzPct val="110000"/>
              <a:buFont typeface="Arial" pitchFamily="34" charset="0"/>
              <a:buChar char="•"/>
            </a:pPr>
            <a:r>
              <a:rPr lang="ar-SA" b="1" dirty="0">
                <a:latin typeface="IBM Plex Sans Arabic"/>
                <a:cs typeface="IBM Plex Sans Arabic"/>
              </a:rPr>
              <a:t>تقرير الامتثال الشهري</a:t>
            </a:r>
            <a:r>
              <a:rPr lang="ar-SA" dirty="0"/>
              <a:t> — سُلِّم قبل الموعد بيومين دون ملاحظات.</a:t>
            </a:r>
          </a:p>
        </p:txBody>
      </p:sp>
      <p:sp>
        <p:nvSpPr>
          <p:cNvPr id="12" name="خطة الأسبوع المقبل"/>
          <p:cNvSpPr>
            <a:spLocks noGrp="1"/>
          </p:cNvSpPr>
          <p:nvPr>
            <p:ph type="body" idx="110" sz="quarter"/>
          </p:nvPr>
        </p:nvSpPr>
        <p:spPr/>
        <p:txBody>
          <a:bodyPr wrap="square" lIns="0" tIns="0" rIns="0" bIns="0" rtlCol="0" anchor="t">
            <a:normAutofit/>
          </a:bodyPr>
          <a:lstStyle/>
          <a:p>
            <a:pPr marL="162000" indent="-162000" algn="r" rtl="1">
              <a:buClr>
                <a:srgbClr val="6459A7"/>
              </a:buClr>
              <a:buSzPct val="110000"/>
              <a:buFont typeface="Arial" pitchFamily="34" charset="0"/>
              <a:buChar char="•"/>
            </a:pPr>
            <a:r>
              <a:rPr lang="ar-SA" dirty="0"/>
              <a:t>اكتمال اختبار أتمتة التقارير مع الفريق التقني — الثلاثاء.</a:t>
            </a:r>
          </a:p>
          <a:p>
            <a:pPr marL="162000" indent="-162000" algn="r" rtl="1">
              <a:buClr>
                <a:srgbClr val="6459A7"/>
              </a:buClr>
              <a:buSzPct val="110000"/>
              <a:buFont typeface="Arial" pitchFamily="34" charset="0"/>
              <a:buChar char="•"/>
            </a:pPr>
            <a:r>
              <a:rPr lang="ar-SA" dirty="0"/>
              <a:t>اعتماد حقول التكامل مع إدارة الموارد البشرية بمحضر — الأربعاء.</a:t>
            </a:r>
          </a:p>
          <a:p>
            <a:pPr marL="162000" indent="-162000" algn="r" rtl="1">
              <a:buClr>
                <a:srgbClr val="6459A7"/>
              </a:buClr>
              <a:buSzPct val="110000"/>
              <a:buFont typeface="Arial" pitchFamily="34" charset="0"/>
              <a:buChar char="•"/>
            </a:pPr>
            <a:r>
              <a:rPr lang="ar-SA" dirty="0"/>
              <a:t>تسليم المسودة الأولى لدليل التصنيف للمراجعة — الخميس.</a:t>
            </a:r>
          </a:p>
          <a:p>
            <a:pPr marL="162000" indent="-162000" algn="r" rtl="1">
              <a:buClr>
                <a:srgbClr val="6459A7"/>
              </a:buClr>
              <a:buSzPct val="110000"/>
              <a:buFont typeface="Arial" pitchFamily="34" charset="0"/>
              <a:buChar char="•"/>
            </a:pPr>
            <a:r>
              <a:rPr lang="ar-SA" dirty="0"/>
              <a:t>إغلاق طلبات الوصول المعلّقة (6 طلبات) — الأربعاء.</a:t>
            </a:r>
          </a:p>
        </p:txBody>
      </p:sp>
      <p:sp>
        <p:nvSpPr>
          <p:cNvPr id="13" name="القرار المطلوب"/>
          <p:cNvSpPr>
            <a:spLocks noGrp="1"/>
          </p:cNvSpPr>
          <p:nvPr>
            <p:ph type="body" idx="111" sz="quarter"/>
          </p:nvPr>
        </p:nvSpPr>
        <p:spPr/>
        <p:txBody>
          <a:bodyPr wrap="square" lIns="0" tIns="0" rIns="0" bIns="0" rtlCol="0" anchor="t">
            <a:normAutofit/>
          </a:bodyPr>
          <a:lstStyle/>
          <a:p>
            <a:pPr algn="r" rtl="1"/>
            <a:r>
              <a:rPr lang="ar-SA" b="1" dirty="0">
                <a:latin typeface="IBM Plex Sans Arabic"/>
                <a:cs typeface="IBM Plex Sans Arabic"/>
              </a:rPr>
              <a:t>المطلوب:</a:t>
            </a:r>
            <a:r>
              <a:rPr lang="ar-SA" dirty="0"/>
              <a:t> اعتماد طلب الصلاحية ACC-214 لفريق التحليلات لربط التكامل بمعرّفات المستفيدين.</a:t>
            </a:r>
          </a:p>
          <a:p>
            <a:pPr algn="r" rtl="1"/>
            <a:r>
              <a:rPr lang="ar-SA" b="1" dirty="0">
                <a:latin typeface="IBM Plex Sans Arabic"/>
                <a:cs typeface="IBM Plex Sans Arabic"/>
              </a:rPr>
              <a:t>المهلة:</a:t>
            </a:r>
            <a:r>
              <a:rPr lang="ar-SA" dirty="0"/>
              <a:t> الاثنين 2 نوفمبر، لحماية موعد 12 نوفمبر.</a:t>
            </a:r>
          </a:p>
          <a:p>
            <a:pPr algn="r" rtl="1"/>
            <a:r>
              <a:rPr lang="ar-SA" b="1" dirty="0">
                <a:latin typeface="IBM Plex Sans Arabic"/>
                <a:cs typeface="IBM Plex Sans Arabic"/>
              </a:rPr>
              <a:t>أثر التأخير:</a:t>
            </a:r>
            <a:r>
              <a:rPr lang="ar-SA" dirty="0"/>
              <a:t> يتأخر التكامل أسبوعًا لكل أسبوع.</a:t>
            </a:r>
          </a:p>
        </p:txBody>
      </p:sp>
      <p:sp>
        <p:nvSpPr>
          <p:cNvPr id="14" name="التحديات"/>
          <p:cNvSpPr>
            <a:spLocks noGrp="1"/>
          </p:cNvSpPr>
          <p:nvPr>
            <p:ph type="body" idx="112" sz="quarter"/>
          </p:nvPr>
        </p:nvSpPr>
        <p:spPr/>
        <p:txBody>
          <a:bodyPr wrap="square" lIns="0" tIns="0" rIns="0" bIns="0" rtlCol="0" anchor="t">
            <a:normAutofit/>
          </a:bodyPr>
          <a:lstStyle/>
          <a:p>
            <a:pPr algn="r" rtl="1"/>
            <a:r>
              <a:rPr lang="ar-SA" dirty="0"/>
              <a:t>تأخر استلام بيانات الموارد البشرية بسبب تغيّر مسؤول النظام لديهم — الأثر: تأخر مهمة التكامل أسبوعًا (الموعد المعدّل 12 نوفمبر بدل 4 نوفمبر)؛ تصل البيانات 9 نوفمبر؛ لا يحتاج تدخّلًا.</a:t>
            </a:r>
          </a:p>
        </p:txBody>
      </p:sp>
      <p:sp>
        <p:nvSpPr>
          <p:cNvPr id="15" name="اسم المُعِد"/>
          <p:cNvSpPr>
            <a:spLocks noGrp="1"/>
          </p:cNvSpPr>
          <p:nvPr>
            <p:ph type="body" idx="113" sz="quarter"/>
          </p:nvPr>
        </p:nvSpPr>
        <p:spPr/>
        <p:txBody>
          <a:bodyPr wrap="square" lIns="0" tIns="0" rIns="0" bIns="0" rtlCol="0" anchor="ctr">
            <a:normAutofit/>
          </a:bodyPr>
          <a:lstStyle/>
          <a:p>
            <a:pPr algn="r" rtl="1"/>
            <a:r>
              <a:rPr lang="ar-SA" dirty="0"/>
              <a:t>أحمد العتيبي</a:t>
            </a:r>
          </a:p>
        </p:txBody>
      </p:sp>
      <p:sp>
        <p:nvSpPr>
          <p:cNvPr id="16" name="تاريخ التوقيع"/>
          <p:cNvSpPr>
            <a:spLocks noGrp="1"/>
          </p:cNvSpPr>
          <p:nvPr>
            <p:ph type="body" idx="114" sz="quarter"/>
          </p:nvPr>
        </p:nvSpPr>
        <p:spPr/>
        <p:txBody>
          <a:bodyPr wrap="square" lIns="0" tIns="0" rIns="0" bIns="0" rtlCol="0" anchor="ctr">
            <a:normAutofit/>
          </a:bodyPr>
          <a:lstStyle/>
          <a:p>
            <a:pPr algn="r" rtl="1"/>
            <a:r>
              <a:rPr lang="ar-SA" dirty="0"/>
              <a:t>29 أكتوبر 2026</a:t>
            </a:r>
          </a:p>
        </p:txBody>
      </p:sp>
      <p:graphicFrame>
        <p:nvGraphicFramePr>
          <p:cNvPr id="17" name="جدول المهام الجارية"/>
          <p:cNvGraphicFramePr>
            <a:graphicFrameLocks noGrp="1"/>
          </p:cNvGraphicFramePr>
          <p:nvPr/>
        </p:nvGraphicFramePr>
        <p:xfrm>
          <a:off x="432000" y="5094000"/>
          <a:ext cx="6696000" cy="1242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أتمتة تقارير الالتزام الأسبوعية</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70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b="1" dirty="0">
                          <a:solidFill>
                            <a:srgbClr val="B54708"/>
                          </a:solidFill>
                          <a:latin typeface="IBM Plex Sans Arabic Medium"/>
                          <a:cs typeface="IBM Plex Sans Arabic Medium"/>
                        </a:rPr>
                        <a:t>متأخر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30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19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خمسة بنود كحد أقصى لكل قسم. بنود الأسبوع المقبل: نتيجة + يوم. الأعداد في الخلاصة تطابق البطاقات وحالات الجدول. التحديات: السبب ← الأثر ← الموعد الجديد ← هل يحتاج تدخّل المدير؟ القرار المطلوب: طلب واحد بمهلة وأثر للتأخير.</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1</Notes>
  <HiddenSlides>1</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التقرير الأسبوعي للمهام</vt:lpstr>
      <vt:lpstr>دليل استخدام القالب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مثال</dc:title>
  <dc:subject>قالب تقرير أسبوعي للمهام (A4 عمودي، عربي)</dc:subject>
  <dc:creator/>
  <cp:keywords/>
  <dc:description/>
  <cp:lastModifiedBy/>
  <cp:revision>1</cp:revision>
  <dcterms:created xsi:type="dcterms:W3CDTF">2026-10-29T10:39:50Z</dcterms:created>
  <dcterms:modified xsi:type="dcterms:W3CDTF">2026-10-29T10:39:50Z</dcterms:modified>
  <cp:category/>
  <dc:language>ar-SA</dc:language>
</cp:coreProperties>
</file>