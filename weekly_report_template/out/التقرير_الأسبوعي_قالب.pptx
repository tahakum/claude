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p:notesSz cx="6858000" cy="9144000"/>
  <p:defaultTextStyle>
    <a:defPPr>
      <a:defRPr lang="ar-SA"/>
    </a:defPPr>
    <a:lvl1pPr marL="0" algn="l" defTabSz="457200" rtl="0" eaLnBrk="1" latinLnBrk="0" hangingPunct="1">
      <a:defRPr sz="1800" kern="1200" lang="ar-SA">
        <a:solidFill>
          <a:schemeClr val="tx1"/>
        </a:solidFill>
        <a:latin typeface="+mn-lt"/>
        <a:ea typeface="+mn-ea"/>
        <a:cs typeface="+mn-cs"/>
      </a:defRPr>
    </a:lvl1pPr>
    <a:lvl2pPr marL="457200" algn="l" defTabSz="457200" rtl="0" eaLnBrk="1" latinLnBrk="0" hangingPunct="1">
      <a:defRPr sz="1800" kern="1200" lang="ar-SA">
        <a:solidFill>
          <a:schemeClr val="tx1"/>
        </a:solidFill>
        <a:latin typeface="+mn-lt"/>
        <a:ea typeface="+mn-ea"/>
        <a:cs typeface="+mn-cs"/>
      </a:defRPr>
    </a:lvl2pPr>
    <a:lvl3pPr marL="914400" algn="l" defTabSz="457200" rtl="0" eaLnBrk="1" latinLnBrk="0" hangingPunct="1">
      <a:defRPr sz="1800" kern="1200" lang="ar-SA">
        <a:solidFill>
          <a:schemeClr val="tx1"/>
        </a:solidFill>
        <a:latin typeface="+mn-lt"/>
        <a:ea typeface="+mn-ea"/>
        <a:cs typeface="+mn-cs"/>
      </a:defRPr>
    </a:lvl3pPr>
    <a:lvl4pPr marL="1371600" algn="l" defTabSz="457200" rtl="0" eaLnBrk="1" latinLnBrk="0" hangingPunct="1">
      <a:defRPr sz="1800" kern="1200" lang="ar-SA">
        <a:solidFill>
          <a:schemeClr val="tx1"/>
        </a:solidFill>
        <a:latin typeface="+mn-lt"/>
        <a:ea typeface="+mn-ea"/>
        <a:cs typeface="+mn-cs"/>
      </a:defRPr>
    </a:lvl4pPr>
    <a:lvl5pPr marL="1828800" algn="l" defTabSz="457200" rtl="0" eaLnBrk="1" latinLnBrk="0" hangingPunct="1">
      <a:defRPr sz="1800" kern="1200" lang="ar-SA">
        <a:solidFill>
          <a:schemeClr val="tx1"/>
        </a:solidFill>
        <a:latin typeface="+mn-lt"/>
        <a:ea typeface="+mn-ea"/>
        <a:cs typeface="+mn-cs"/>
      </a:defRPr>
    </a:lvl5pPr>
    <a:lvl6pPr marL="2286000" algn="l" defTabSz="457200" rtl="0" eaLnBrk="1" latinLnBrk="0" hangingPunct="1">
      <a:defRPr sz="1800" kern="1200" lang="ar-SA">
        <a:solidFill>
          <a:schemeClr val="tx1"/>
        </a:solidFill>
        <a:latin typeface="+mn-lt"/>
        <a:ea typeface="+mn-ea"/>
        <a:cs typeface="+mn-cs"/>
      </a:defRPr>
    </a:lvl6pPr>
    <a:lvl7pPr marL="2743200" algn="l" defTabSz="457200" rtl="0" eaLnBrk="1" latinLnBrk="0" hangingPunct="1">
      <a:defRPr sz="1800" kern="1200" lang="ar-SA">
        <a:solidFill>
          <a:schemeClr val="tx1"/>
        </a:solidFill>
        <a:latin typeface="+mn-lt"/>
        <a:ea typeface="+mn-ea"/>
        <a:cs typeface="+mn-cs"/>
      </a:defRPr>
    </a:lvl7pPr>
    <a:lvl8pPr marL="3200400" algn="l" defTabSz="457200" rtl="0" eaLnBrk="1" latinLnBrk="0" hangingPunct="1">
      <a:defRPr sz="1800" kern="1200" lang="ar-SA">
        <a:solidFill>
          <a:schemeClr val="tx1"/>
        </a:solidFill>
        <a:latin typeface="+mn-lt"/>
        <a:ea typeface="+mn-ea"/>
        <a:cs typeface="+mn-cs"/>
      </a:defRPr>
    </a:lvl8pPr>
    <a:lvl9pPr marL="3657600" algn="l" defTabSz="457200" rtl="0" eaLnBrk="1" latinLnBrk="0" hangingPunct="1">
      <a:defRPr sz="1800" kern="1200" lang="ar-SA">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دليل سريع: اكتب داخل الحقول الإرشادية (لا تُطبع إن بقيت فارغة). لأسبوع جديد: Ctrl+D على هذه الشريحة فيزيد العداد تلقائيًا. للتصدير: ملف ← تصدير ← PDF ← خيارات ← الشريحة الحالية. التفاصيل في الشريحة المخفية الأخيرة.</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صفحة فارغة">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التقرير الأسبوعي">
    <p:spTree>
      <p:nvGrpSpPr>
        <p:cNvPr id="1" name=""/>
        <p:cNvGrpSpPr/>
        <p:nvPr/>
      </p:nvGrpSpPr>
      <p:grpSpPr>
        <a:xfrm>
          <a:off x="0" y="0"/>
          <a:ext cx="0" cy="0"/>
          <a:chOff x="0" y="0"/>
          <a:chExt cx="0" cy="0"/>
        </a:xfrm>
      </p:grpSpPr>
      <p:sp>
        <p:nvSpPr>
          <p:cNvPr id="2" name="لوحة الترويسة"/>
          <p:cNvSpPr/>
          <p:nvPr/>
        </p:nvSpPr>
        <p:spPr>
          <a:xfrm>
            <a:off x="0" y="0"/>
            <a:ext cx="7560000" cy="1656000"/>
          </a:xfrm>
          <a:prstGeom prst="rect">
            <a:avLst/>
          </a:prstGeom>
          <a:gradFill rotWithShape="1">
            <a:gsLst>
              <a:gs pos="0">
                <a:srgbClr val="273470"/>
              </a:gs>
              <a:gs pos="100000">
                <a:srgbClr val="1B2452"/>
              </a:gs>
            </a:gsLst>
            <a:lin ang="1200000" scaled="0"/>
          </a:gradFill>
          <a:ln>
            <a:noFill/>
          </a:ln>
        </p:spPr>
      </p:sp>
      <p:cxnSp>
        <p:nvCxnSpPr>
          <p:cNvPr id="3" name="خط زخرفي"/>
          <p:cNvCxnSpPr/>
          <p:nvPr/>
        </p:nvCxnSpPr>
        <p:spPr>
          <a:xfrm flipV="1">
            <a:off x="1638000" y="396000"/>
            <a:ext cx="198000" cy="234000"/>
          </a:xfrm>
          <a:prstGeom prst="line">
            <a:avLst/>
          </a:prstGeom>
          <a:ln w="6350" cap="rnd">
            <a:solidFill>
              <a:srgbClr val="66CCFF">
                <a:alpha val="30000"/>
              </a:srgbClr>
            </a:solidFill>
            <a:round/>
          </a:ln>
        </p:spPr>
      </p:cxnSp>
      <p:cxnSp>
        <p:nvCxnSpPr>
          <p:cNvPr id="4" name="خط زخرفي"/>
          <p:cNvCxnSpPr/>
          <p:nvPr/>
        </p:nvCxnSpPr>
        <p:spPr>
          <a:xfrm>
            <a:off x="1836000" y="396000"/>
            <a:ext cx="216000" cy="126000"/>
          </a:xfrm>
          <a:prstGeom prst="line">
            <a:avLst/>
          </a:prstGeom>
          <a:ln w="6350" cap="rnd">
            <a:solidFill>
              <a:srgbClr val="66CCFF">
                <a:alpha val="30000"/>
              </a:srgbClr>
            </a:solidFill>
            <a:round/>
          </a:ln>
        </p:spPr>
      </p:cxnSp>
      <p:cxnSp>
        <p:nvCxnSpPr>
          <p:cNvPr id="5" name="خط زخرفي"/>
          <p:cNvCxnSpPr/>
          <p:nvPr/>
        </p:nvCxnSpPr>
        <p:spPr>
          <a:xfrm flipV="1">
            <a:off x="2052000" y="234000"/>
            <a:ext cx="198000" cy="288000"/>
          </a:xfrm>
          <a:prstGeom prst="line">
            <a:avLst/>
          </a:prstGeom>
          <a:ln w="6350" cap="rnd">
            <a:solidFill>
              <a:srgbClr val="66CCFF">
                <a:alpha val="30000"/>
              </a:srgbClr>
            </a:solidFill>
            <a:round/>
          </a:ln>
        </p:spPr>
      </p:cxnSp>
      <p:cxnSp>
        <p:nvCxnSpPr>
          <p:cNvPr id="6" name="خط زخرفي"/>
          <p:cNvCxnSpPr/>
          <p:nvPr/>
        </p:nvCxnSpPr>
        <p:spPr>
          <a:xfrm>
            <a:off x="2250000" y="234000"/>
            <a:ext cx="216000" cy="126000"/>
          </a:xfrm>
          <a:prstGeom prst="line">
            <a:avLst/>
          </a:prstGeom>
          <a:ln w="6350" cap="rnd">
            <a:solidFill>
              <a:srgbClr val="66CCFF">
                <a:alpha val="30000"/>
              </a:srgbClr>
            </a:solidFill>
            <a:round/>
          </a:ln>
        </p:spPr>
      </p:cxnSp>
      <p:cxnSp>
        <p:nvCxnSpPr>
          <p:cNvPr id="7" name="خط زخرفي"/>
          <p:cNvCxnSpPr/>
          <p:nvPr/>
        </p:nvCxnSpPr>
        <p:spPr>
          <a:xfrm flipV="1">
            <a:off x="2466000" y="90000"/>
            <a:ext cx="198000" cy="270000"/>
          </a:xfrm>
          <a:prstGeom prst="line">
            <a:avLst/>
          </a:prstGeom>
          <a:ln w="6350" cap="rnd">
            <a:solidFill>
              <a:srgbClr val="66CCFF">
                <a:alpha val="30000"/>
              </a:srgbClr>
            </a:solidFill>
            <a:round/>
          </a:ln>
        </p:spPr>
      </p:cxnSp>
      <p:cxnSp>
        <p:nvCxnSpPr>
          <p:cNvPr id="8" name="خط زخرفي"/>
          <p:cNvCxnSpPr/>
          <p:nvPr/>
        </p:nvCxnSpPr>
        <p:spPr>
          <a:xfrm>
            <a:off x="2664000" y="90000"/>
            <a:ext cx="198000" cy="162000"/>
          </a:xfrm>
          <a:prstGeom prst="line">
            <a:avLst/>
          </a:prstGeom>
          <a:ln w="6350" cap="rnd">
            <a:solidFill>
              <a:srgbClr val="66CCFF">
                <a:alpha val="30000"/>
              </a:srgbClr>
            </a:solidFill>
            <a:round/>
          </a:ln>
        </p:spPr>
      </p:cxnSp>
      <p:cxnSp>
        <p:nvCxnSpPr>
          <p:cNvPr id="9" name="خط زخرفي"/>
          <p:cNvCxnSpPr/>
          <p:nvPr/>
        </p:nvCxnSpPr>
        <p:spPr>
          <a:xfrm flipV="1">
            <a:off x="2862000" y="28800"/>
            <a:ext cx="180000" cy="223200"/>
          </a:xfrm>
          <a:prstGeom prst="line">
            <a:avLst/>
          </a:prstGeom>
          <a:ln w="6350" cap="rnd">
            <a:solidFill>
              <a:srgbClr val="66CCFF">
                <a:alpha val="30000"/>
              </a:srgbClr>
            </a:solidFill>
            <a:round/>
          </a:ln>
        </p:spPr>
      </p:cxnSp>
      <p:cxnSp>
        <p:nvCxnSpPr>
          <p:cNvPr id="10" name="خط زخرفي"/>
          <p:cNvCxnSpPr/>
          <p:nvPr/>
        </p:nvCxnSpPr>
        <p:spPr>
          <a:xfrm>
            <a:off x="2052000" y="522000"/>
            <a:ext cx="126000" cy="252000"/>
          </a:xfrm>
          <a:prstGeom prst="line">
            <a:avLst/>
          </a:prstGeom>
          <a:ln w="6350" cap="rnd">
            <a:solidFill>
              <a:srgbClr val="66CCFF">
                <a:alpha val="30000"/>
              </a:srgbClr>
            </a:solidFill>
            <a:round/>
          </a:ln>
        </p:spPr>
      </p:cxnSp>
      <p:cxnSp>
        <p:nvCxnSpPr>
          <p:cNvPr id="11" name="خط زخرفي"/>
          <p:cNvCxnSpPr/>
          <p:nvPr/>
        </p:nvCxnSpPr>
        <p:spPr>
          <a:xfrm>
            <a:off x="2466000" y="360000"/>
            <a:ext cx="108000" cy="234000"/>
          </a:xfrm>
          <a:prstGeom prst="line">
            <a:avLst/>
          </a:prstGeom>
          <a:ln w="6350" cap="rnd">
            <a:solidFill>
              <a:srgbClr val="66CCFF">
                <a:alpha val="30000"/>
              </a:srgbClr>
            </a:solidFill>
            <a:round/>
          </a:ln>
        </p:spPr>
      </p:cxnSp>
      <p:sp>
        <p:nvSpPr>
          <p:cNvPr id="12" name="عقدة زخرفية"/>
          <p:cNvSpPr/>
          <p:nvPr/>
        </p:nvSpPr>
        <p:spPr>
          <a:xfrm>
            <a:off x="1580400" y="572400"/>
            <a:ext cx="115200" cy="115200"/>
          </a:xfrm>
          <a:prstGeom prst="ellipse">
            <a:avLst/>
          </a:prstGeom>
          <a:solidFill>
            <a:srgbClr val="66CCFF">
              <a:alpha val="55000"/>
            </a:srgbClr>
          </a:solidFill>
          <a:ln>
            <a:noFill/>
          </a:ln>
        </p:spPr>
      </p:sp>
      <p:sp>
        <p:nvSpPr>
          <p:cNvPr id="13" name="عقدة زخرفية"/>
          <p:cNvSpPr/>
          <p:nvPr/>
        </p:nvSpPr>
        <p:spPr>
          <a:xfrm>
            <a:off x="1800000" y="360000"/>
            <a:ext cx="72000" cy="72000"/>
          </a:xfrm>
          <a:prstGeom prst="ellipse">
            <a:avLst/>
          </a:prstGeom>
          <a:solidFill>
            <a:srgbClr val="66CCFF">
              <a:alpha val="55000"/>
            </a:srgbClr>
          </a:solidFill>
          <a:ln>
            <a:noFill/>
          </a:ln>
        </p:spPr>
      </p:sp>
      <p:sp>
        <p:nvSpPr>
          <p:cNvPr id="14" name="عقدة زخرفية"/>
          <p:cNvSpPr/>
          <p:nvPr/>
        </p:nvSpPr>
        <p:spPr>
          <a:xfrm>
            <a:off x="2016000" y="486000"/>
            <a:ext cx="72000" cy="72000"/>
          </a:xfrm>
          <a:prstGeom prst="ellipse">
            <a:avLst/>
          </a:prstGeom>
          <a:solidFill>
            <a:srgbClr val="66CCFF">
              <a:alpha val="55000"/>
            </a:srgbClr>
          </a:solidFill>
          <a:ln>
            <a:noFill/>
          </a:ln>
        </p:spPr>
      </p:sp>
      <p:sp>
        <p:nvSpPr>
          <p:cNvPr id="15" name="عقدة زخرفية"/>
          <p:cNvSpPr/>
          <p:nvPr/>
        </p:nvSpPr>
        <p:spPr>
          <a:xfrm>
            <a:off x="2192400" y="176400"/>
            <a:ext cx="115200" cy="115200"/>
          </a:xfrm>
          <a:prstGeom prst="ellipse">
            <a:avLst/>
          </a:prstGeom>
          <a:solidFill>
            <a:srgbClr val="33CC99">
              <a:alpha val="55000"/>
            </a:srgbClr>
          </a:solidFill>
          <a:ln>
            <a:noFill/>
          </a:ln>
        </p:spPr>
      </p:sp>
      <p:sp>
        <p:nvSpPr>
          <p:cNvPr id="16" name="عقدة زخرفية"/>
          <p:cNvSpPr/>
          <p:nvPr/>
        </p:nvSpPr>
        <p:spPr>
          <a:xfrm>
            <a:off x="2430000" y="324000"/>
            <a:ext cx="72000" cy="72000"/>
          </a:xfrm>
          <a:prstGeom prst="ellipse">
            <a:avLst/>
          </a:prstGeom>
          <a:solidFill>
            <a:srgbClr val="66CCFF">
              <a:alpha val="55000"/>
            </a:srgbClr>
          </a:solidFill>
          <a:ln>
            <a:noFill/>
          </a:ln>
        </p:spPr>
      </p:sp>
      <p:sp>
        <p:nvSpPr>
          <p:cNvPr id="17" name="عقدة زخرفية"/>
          <p:cNvSpPr/>
          <p:nvPr/>
        </p:nvSpPr>
        <p:spPr>
          <a:xfrm>
            <a:off x="2628000" y="54000"/>
            <a:ext cx="72000" cy="72000"/>
          </a:xfrm>
          <a:prstGeom prst="ellipse">
            <a:avLst/>
          </a:prstGeom>
          <a:solidFill>
            <a:srgbClr val="66CCFF">
              <a:alpha val="55000"/>
            </a:srgbClr>
          </a:solidFill>
          <a:ln>
            <a:noFill/>
          </a:ln>
        </p:spPr>
      </p:sp>
      <p:sp>
        <p:nvSpPr>
          <p:cNvPr id="18" name="عقدة زخرفية"/>
          <p:cNvSpPr/>
          <p:nvPr/>
        </p:nvSpPr>
        <p:spPr>
          <a:xfrm>
            <a:off x="2804400" y="194400"/>
            <a:ext cx="115200" cy="115200"/>
          </a:xfrm>
          <a:prstGeom prst="ellipse">
            <a:avLst/>
          </a:prstGeom>
          <a:solidFill>
            <a:srgbClr val="6459A7">
              <a:alpha val="55000"/>
            </a:srgbClr>
          </a:solidFill>
          <a:ln>
            <a:noFill/>
          </a:ln>
        </p:spPr>
      </p:sp>
      <p:sp>
        <p:nvSpPr>
          <p:cNvPr id="19" name="عقدة زخرفية"/>
          <p:cNvSpPr/>
          <p:nvPr/>
        </p:nvSpPr>
        <p:spPr>
          <a:xfrm>
            <a:off x="3006000" y="-7200"/>
            <a:ext cx="72000" cy="72000"/>
          </a:xfrm>
          <a:prstGeom prst="ellipse">
            <a:avLst/>
          </a:prstGeom>
          <a:solidFill>
            <a:srgbClr val="66CCFF">
              <a:alpha val="55000"/>
            </a:srgbClr>
          </a:solidFill>
          <a:ln>
            <a:noFill/>
          </a:ln>
        </p:spPr>
      </p:sp>
      <p:sp>
        <p:nvSpPr>
          <p:cNvPr id="20" name="عقدة زخرفية"/>
          <p:cNvSpPr/>
          <p:nvPr/>
        </p:nvSpPr>
        <p:spPr>
          <a:xfrm>
            <a:off x="2142000" y="738000"/>
            <a:ext cx="72000" cy="72000"/>
          </a:xfrm>
          <a:prstGeom prst="ellipse">
            <a:avLst/>
          </a:prstGeom>
          <a:solidFill>
            <a:srgbClr val="66CCFF">
              <a:alpha val="55000"/>
            </a:srgbClr>
          </a:solidFill>
          <a:ln>
            <a:noFill/>
          </a:ln>
        </p:spPr>
      </p:sp>
      <p:sp>
        <p:nvSpPr>
          <p:cNvPr id="21" name="عقدة زخرفية"/>
          <p:cNvSpPr/>
          <p:nvPr/>
        </p:nvSpPr>
        <p:spPr>
          <a:xfrm>
            <a:off x="2516400" y="536400"/>
            <a:ext cx="115200" cy="115200"/>
          </a:xfrm>
          <a:prstGeom prst="ellipse">
            <a:avLst/>
          </a:prstGeom>
          <a:solidFill>
            <a:srgbClr val="66CCFF">
              <a:alpha val="55000"/>
            </a:srgbClr>
          </a:solidFill>
          <a:ln>
            <a:noFill/>
          </a:ln>
        </p:spPr>
      </p:sp>
      <p:sp>
        <p:nvSpPr>
          <p:cNvPr id="22" name="عداد التقرير"/>
          <p:cNvSpPr txBox="1"/>
          <p:nvPr/>
        </p:nvSpPr>
        <p:spPr>
          <a:xfrm>
            <a:off x="432000" y="216000"/>
            <a:ext cx="1080000" cy="504000"/>
          </a:xfrm>
          <a:prstGeom prst="roundRect">
            <a:avLst>
              <a:gd name="adj" fmla="val 22000"/>
            </a:avLst>
          </a:prstGeom>
          <a:gradFill rotWithShape="1">
            <a:gsLst>
              <a:gs pos="0">
                <a:srgbClr val="33CC99"/>
              </a:gs>
              <a:gs pos="100000">
                <a:srgbClr val="99D633"/>
              </a:gs>
            </a:gsLst>
            <a:lin ang="0" scaled="0"/>
          </a:gradFill>
          <a:ln>
            <a:noFill/>
          </a:ln>
        </p:spPr>
        <p:txBody>
          <a:bodyPr wrap="square" lIns="36000" tIns="18000" rIns="36000" bIns="18000" rtlCol="0" anchor="ctr"/>
          <a:lstStyle/>
          <a:p>
            <a:pPr marL="0" indent="0" algn="ctr" rtl="1">
              <a:lnSpc>
                <a:spcPct val="100000"/>
              </a:lnSpc>
              <a:spcBef>
                <a:spcPts val="0"/>
              </a:spcBef>
              <a:spcAft>
                <a:spcPts val="0"/>
              </a:spcAft>
              <a:buNone/>
            </a:pPr>
            <a:r>
              <a:rPr lang="ar-SA" sz="900" b="1" dirty="0">
                <a:solidFill>
                  <a:srgbClr val="273470"/>
                </a:solidFill>
                <a:latin typeface="IBM Plex Sans Arabic"/>
                <a:cs typeface="IBM Plex Sans Arabic"/>
              </a:rPr>
              <a:t>تقرير رقم</a:t>
            </a:r>
          </a:p>
          <a:p>
            <a:pPr marL="0" indent="0" algn="ctr" rtl="1">
              <a:lnSpc>
                <a:spcPct val="90000"/>
              </a:lnSpc>
              <a:spcBef>
                <a:spcPts val="0"/>
              </a:spcBef>
              <a:spcAft>
                <a:spcPts val="0"/>
              </a:spcAft>
              <a:buNone/>
            </a:pPr>
            <a:fld id="{B6F15528-21DE-4FAA-801E-634DDDAF4B2B}" type="slidenum">
              <a:rPr lang="en-US" sz="1800" b="1" dirty="0">
                <a:solidFill>
                  <a:srgbClr val="273470"/>
                </a:solidFill>
                <a:latin typeface="IBM Plex Sans Arabic"/>
                <a:cs typeface="IBM Plex Sans Arabic"/>
              </a:rPr>
              <a:t>1</a:t>
            </a:fld>
          </a:p>
        </p:txBody>
      </p:sp>
      <p:sp>
        <p:nvSpPr>
          <p:cNvPr id="23" name="الشعار"/>
          <p:cNvSpPr>
            <a:spLocks noGrp="1"/>
          </p:cNvSpPr>
          <p:nvPr>
            <p:ph type="pic" sz="quarter" idx="120" hasCustomPrompt="1"/>
          </p:nvPr>
        </p:nvSpPr>
        <p:spPr>
          <a:xfrm>
            <a:off x="6624000" y="180000"/>
            <a:ext cx="504000" cy="504000"/>
          </a:xfrm>
          <a:prstGeom prst="rect">
            <a:avLst/>
          </a:prstGeom>
          <a:noFill/>
        </p:spPr>
        <p:txBody>
          <a:bodyPr anchor="ctr" lIns="0" tIns="0" rIns="0" bIns="0"/>
          <a:lstStyle>
            <a:lvl1pPr algn="ctr" rtl="1">
              <a:buNone/>
              <a:defRPr lang="ar-SA" sz="800" dirty="0">
                <a:solidFill>
                  <a:srgbClr val="FFFFFF">
                    <a:alpha val="70000"/>
                  </a:srgbClr>
                </a:solidFill>
                <a:latin typeface="IBM Plex Sans Arabic"/>
                <a:cs typeface="IBM Plex Sans Arabic"/>
              </a:defRPr>
            </a:lvl1pPr>
          </a:lstStyle>
          <a:p>
            <a:r>
              <a:rPr lang="ar-SA" dirty="0"/>
              <a:t>الشعار</a:t>
            </a:r>
          </a:p>
        </p:txBody>
      </p:sp>
      <p:sp>
        <p:nvSpPr>
          <p:cNvPr id="24" name="اسم الجهة"/>
          <p:cNvSpPr>
            <a:spLocks noGrp="1"/>
          </p:cNvSpPr>
          <p:nvPr>
            <p:ph type="body" sz="quarter" idx="101" hasCustomPrompt="1"/>
          </p:nvPr>
        </p:nvSpPr>
        <p:spPr>
          <a:xfrm>
            <a:off x="2520000" y="252000"/>
            <a:ext cx="3996000" cy="288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اسم الجهة — الإدارة / القسم</a:t>
            </a:r>
          </a:p>
        </p:txBody>
      </p:sp>
      <p:sp>
        <p:nvSpPr>
          <p:cNvPr id="25" name="عنوان التقرير"/>
          <p:cNvSpPr txBox="1"/>
          <p:nvPr/>
        </p:nvSpPr>
        <p:spPr>
          <a:xfrm>
            <a:off x="2880000" y="720000"/>
            <a:ext cx="4248000" cy="41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2200" b="1" dirty="0">
                <a:solidFill>
                  <a:srgbClr val="FFFFFF"/>
                </a:solidFill>
                <a:latin typeface="IBM Plex Sans Arabic"/>
                <a:cs typeface="IBM Plex Sans Arabic"/>
              </a:rPr>
              <a:t>التقرير الأسبوعي للمهام</a:t>
            </a:r>
          </a:p>
        </p:txBody>
      </p:sp>
      <p:sp>
        <p:nvSpPr>
          <p:cNvPr id="26" name="تسمية: الفترة"/>
          <p:cNvSpPr txBox="1"/>
          <p:nvPr/>
        </p:nvSpPr>
        <p:spPr>
          <a:xfrm>
            <a:off x="499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الفترة</a:t>
            </a:r>
          </a:p>
        </p:txBody>
      </p:sp>
      <p:sp>
        <p:nvSpPr>
          <p:cNvPr id="27" name="الفترة"/>
          <p:cNvSpPr>
            <a:spLocks noGrp="1"/>
          </p:cNvSpPr>
          <p:nvPr>
            <p:ph type="body" sz="quarter" idx="102" hasCustomPrompt="1"/>
          </p:nvPr>
        </p:nvSpPr>
        <p:spPr>
          <a:xfrm>
            <a:off x="499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من … إلى … (الأسبوع …)</a:t>
            </a:r>
          </a:p>
        </p:txBody>
      </p:sp>
      <p:sp>
        <p:nvSpPr>
          <p:cNvPr id="28" name="تسمية: إعداد"/>
          <p:cNvSpPr txBox="1"/>
          <p:nvPr/>
        </p:nvSpPr>
        <p:spPr>
          <a:xfrm>
            <a:off x="271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إعداد</a:t>
            </a:r>
          </a:p>
        </p:txBody>
      </p:sp>
      <p:sp>
        <p:nvSpPr>
          <p:cNvPr id="29" name="إعداد"/>
          <p:cNvSpPr>
            <a:spLocks noGrp="1"/>
          </p:cNvSpPr>
          <p:nvPr>
            <p:ph type="body" sz="quarter" idx="103" hasCustomPrompt="1"/>
          </p:nvPr>
        </p:nvSpPr>
        <p:spPr>
          <a:xfrm>
            <a:off x="271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الاسم — المسمى الوظيفي</a:t>
            </a:r>
          </a:p>
        </p:txBody>
      </p:sp>
      <p:sp>
        <p:nvSpPr>
          <p:cNvPr id="30" name="تسمية: مقدَّم إلى"/>
          <p:cNvSpPr txBox="1"/>
          <p:nvPr/>
        </p:nvSpPr>
        <p:spPr>
          <a:xfrm>
            <a:off x="432000" y="1152000"/>
            <a:ext cx="2136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مقدَّم إلى</a:t>
            </a:r>
          </a:p>
        </p:txBody>
      </p:sp>
      <p:sp>
        <p:nvSpPr>
          <p:cNvPr id="31" name="مقدَّم إلى"/>
          <p:cNvSpPr>
            <a:spLocks noGrp="1"/>
          </p:cNvSpPr>
          <p:nvPr>
            <p:ph type="body" sz="quarter" idx="104" hasCustomPrompt="1"/>
          </p:nvPr>
        </p:nvSpPr>
        <p:spPr>
          <a:xfrm>
            <a:off x="432000" y="1314000"/>
            <a:ext cx="213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اسم المدير — المسمى الوظيفي</a:t>
            </a:r>
          </a:p>
        </p:txBody>
      </p:sp>
      <p:sp>
        <p:nvSpPr>
          <p:cNvPr id="32" name="تسمية الخلاصة"/>
          <p:cNvSpPr txBox="1"/>
          <p:nvPr/>
        </p:nvSpPr>
        <p:spPr>
          <a:xfrm>
            <a:off x="2988000" y="1872000"/>
            <a:ext cx="4140000" cy="180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50" b="1" dirty="0">
                <a:solidFill>
                  <a:srgbClr val="0C7373"/>
                </a:solidFill>
                <a:latin typeface="IBM Plex Sans Arabic"/>
                <a:cs typeface="IBM Plex Sans Arabic"/>
              </a:rPr>
              <a:t>خلاصة الأسبوع</a:t>
            </a:r>
          </a:p>
        </p:txBody>
      </p:sp>
      <p:sp>
        <p:nvSpPr>
          <p:cNvPr id="33" name="خلاصة الأسبوع"/>
          <p:cNvSpPr>
            <a:spLocks noGrp="1"/>
          </p:cNvSpPr>
          <p:nvPr>
            <p:ph type="body" sz="quarter" idx="105" hasCustomPrompt="1"/>
          </p:nvPr>
        </p:nvSpPr>
        <p:spPr>
          <a:xfrm>
            <a:off x="2988000" y="2070000"/>
            <a:ext cx="4140000" cy="954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2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5pPr>
          </a:lstStyle>
          <a:p>
            <a:r>
              <a:rPr lang="ar-SA" dirty="0"/>
              <a:t>ثلاثة أسطر: أبرز ما أُنجز، وما يجري العمل عليه، وما يحتاج تدخّلًا. الأعداد هنا تطابق البطاقات.</a:t>
            </a:r>
          </a:p>
        </p:txBody>
      </p:sp>
      <p:sp>
        <p:nvSpPr>
          <p:cNvPr id="34" name="بطاقة مهام منجزة"/>
          <p:cNvSpPr/>
          <p:nvPr/>
        </p:nvSpPr>
        <p:spPr>
          <a:xfrm>
            <a:off x="2088000" y="1872000"/>
            <a:ext cx="684000" cy="1152000"/>
          </a:xfrm>
          <a:prstGeom prst="roundRect">
            <a:avLst>
              <a:gd name="adj" fmla="val 8000"/>
            </a:avLst>
          </a:prstGeom>
          <a:solidFill>
            <a:srgbClr val="EEF0F8"/>
          </a:solidFill>
          <a:ln w="6350">
            <a:solidFill>
              <a:srgbClr val="C9CFD9"/>
            </a:solidFill>
          </a:ln>
        </p:spPr>
      </p:sp>
      <p:sp>
        <p:nvSpPr>
          <p:cNvPr id="35" name="عدد مهام منجزة"/>
          <p:cNvSpPr>
            <a:spLocks noGrp="1"/>
          </p:cNvSpPr>
          <p:nvPr>
            <p:ph type="body" sz="quarter" idx="106" hasCustomPrompt="1"/>
          </p:nvPr>
        </p:nvSpPr>
        <p:spPr>
          <a:xfrm>
            <a:off x="2088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127A5B"/>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6" name="تسمية مهام منجزة"/>
          <p:cNvSpPr txBox="1"/>
          <p:nvPr/>
        </p:nvSpPr>
        <p:spPr>
          <a:xfrm>
            <a:off x="2052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منجزة</a:t>
            </a:r>
          </a:p>
        </p:txBody>
      </p:sp>
      <p:sp>
        <p:nvSpPr>
          <p:cNvPr id="37" name="بطاقة مهام جارية"/>
          <p:cNvSpPr/>
          <p:nvPr/>
        </p:nvSpPr>
        <p:spPr>
          <a:xfrm>
            <a:off x="1260000" y="1872000"/>
            <a:ext cx="684000" cy="1152000"/>
          </a:xfrm>
          <a:prstGeom prst="roundRect">
            <a:avLst>
              <a:gd name="adj" fmla="val 8000"/>
            </a:avLst>
          </a:prstGeom>
          <a:solidFill>
            <a:srgbClr val="EEF0F8"/>
          </a:solidFill>
          <a:ln w="6350">
            <a:solidFill>
              <a:srgbClr val="C9CFD9"/>
            </a:solidFill>
          </a:ln>
        </p:spPr>
      </p:sp>
      <p:sp>
        <p:nvSpPr>
          <p:cNvPr id="38" name="عدد مهام جارية"/>
          <p:cNvSpPr>
            <a:spLocks noGrp="1"/>
          </p:cNvSpPr>
          <p:nvPr>
            <p:ph type="body" sz="quarter" idx="107" hasCustomPrompt="1"/>
          </p:nvPr>
        </p:nvSpPr>
        <p:spPr>
          <a:xfrm>
            <a:off x="1260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0C7373"/>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9" name="تسمية مهام جارية"/>
          <p:cNvSpPr txBox="1"/>
          <p:nvPr/>
        </p:nvSpPr>
        <p:spPr>
          <a:xfrm>
            <a:off x="1224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جارية</a:t>
            </a:r>
          </a:p>
        </p:txBody>
      </p:sp>
      <p:sp>
        <p:nvSpPr>
          <p:cNvPr id="40" name="بطاقة مهام مقبلة"/>
          <p:cNvSpPr/>
          <p:nvPr/>
        </p:nvSpPr>
        <p:spPr>
          <a:xfrm>
            <a:off x="432000" y="1872000"/>
            <a:ext cx="684000" cy="1152000"/>
          </a:xfrm>
          <a:prstGeom prst="roundRect">
            <a:avLst>
              <a:gd name="adj" fmla="val 8000"/>
            </a:avLst>
          </a:prstGeom>
          <a:solidFill>
            <a:srgbClr val="EEF0F8"/>
          </a:solidFill>
          <a:ln w="6350">
            <a:solidFill>
              <a:srgbClr val="C9CFD9"/>
            </a:solidFill>
          </a:ln>
        </p:spPr>
      </p:sp>
      <p:sp>
        <p:nvSpPr>
          <p:cNvPr id="41" name="عدد مهام مقبلة"/>
          <p:cNvSpPr>
            <a:spLocks noGrp="1"/>
          </p:cNvSpPr>
          <p:nvPr>
            <p:ph type="body" sz="quarter" idx="108" hasCustomPrompt="1"/>
          </p:nvPr>
        </p:nvSpPr>
        <p:spPr>
          <a:xfrm>
            <a:off x="432000" y="1944000"/>
            <a:ext cx="68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6459A7"/>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42" name="تسمية مهام مقبلة"/>
          <p:cNvSpPr txBox="1"/>
          <p:nvPr/>
        </p:nvSpPr>
        <p:spPr>
          <a:xfrm>
            <a:off x="396000" y="2646000"/>
            <a:ext cx="75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مقبلة</a:t>
            </a:r>
          </a:p>
        </p:txBody>
      </p:sp>
      <p:sp>
        <p:nvSpPr>
          <p:cNvPr id="43" name="أيقونة قسم"/>
          <p:cNvSpPr/>
          <p:nvPr/>
        </p:nvSpPr>
        <p:spPr>
          <a:xfrm>
            <a:off x="6984000" y="3297600"/>
            <a:ext cx="144000" cy="144000"/>
          </a:xfrm>
          <a:prstGeom prst="ellipse">
            <a:avLst/>
          </a:prstGeom>
          <a:solidFill>
            <a:srgbClr val="127A5B"/>
          </a:solidFill>
          <a:ln>
            <a:noFill/>
          </a:ln>
        </p:spPr>
      </p:sp>
      <p:sp>
        <p:nvSpPr>
          <p:cNvPr id="44" name="أيقونة قسم داخلية"/>
          <p:cNvSpPr/>
          <p:nvPr/>
        </p:nvSpPr>
        <p:spPr>
          <a:xfrm>
            <a:off x="7029000" y="3342600"/>
            <a:ext cx="54000" cy="54000"/>
          </a:xfrm>
          <a:prstGeom prst="ellipse">
            <a:avLst/>
          </a:prstGeom>
          <a:solidFill>
            <a:srgbClr val="FFFFFF"/>
          </a:solidFill>
          <a:ln>
            <a:noFill/>
          </a:ln>
        </p:spPr>
      </p:sp>
      <p:sp>
        <p:nvSpPr>
          <p:cNvPr id="45" name="عنوان قسم: المهام المنجزة هذا الأسبوع"/>
          <p:cNvSpPr txBox="1"/>
          <p:nvPr/>
        </p:nvSpPr>
        <p:spPr>
          <a:xfrm>
            <a:off x="2214000" y="3225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المنجزة هذا الأسبوع</a:t>
            </a:r>
          </a:p>
        </p:txBody>
      </p:sp>
      <p:sp>
        <p:nvSpPr>
          <p:cNvPr id="46" name="المهام المنجزة"/>
          <p:cNvSpPr>
            <a:spLocks noGrp="1"/>
          </p:cNvSpPr>
          <p:nvPr>
            <p:ph type="body" sz="quarter" idx="109" hasCustomPrompt="1"/>
          </p:nvPr>
        </p:nvSpPr>
        <p:spPr>
          <a:xfrm>
            <a:off x="432000" y="3510000"/>
            <a:ext cx="6696000" cy="1368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127A5B"/>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مهمة في كل سطر: اسم المهمة — النتيجة أو الأثر (برقم إن أمكن). خمسة بنود كحد أقصى.</a:t>
            </a:r>
          </a:p>
        </p:txBody>
      </p:sp>
      <p:sp>
        <p:nvSpPr>
          <p:cNvPr id="47" name="أيقونة قسم"/>
          <p:cNvSpPr/>
          <p:nvPr/>
        </p:nvSpPr>
        <p:spPr>
          <a:xfrm>
            <a:off x="6984000" y="5133600"/>
            <a:ext cx="144000" cy="144000"/>
          </a:xfrm>
          <a:prstGeom prst="ellipse">
            <a:avLst/>
          </a:prstGeom>
          <a:solidFill>
            <a:srgbClr val="0C7373"/>
          </a:solidFill>
          <a:ln>
            <a:noFill/>
          </a:ln>
        </p:spPr>
      </p:sp>
      <p:sp>
        <p:nvSpPr>
          <p:cNvPr id="48" name="أيقونة قسم داخلية"/>
          <p:cNvSpPr/>
          <p:nvPr/>
        </p:nvSpPr>
        <p:spPr>
          <a:xfrm>
            <a:off x="7029000" y="5178600"/>
            <a:ext cx="54000" cy="54000"/>
          </a:xfrm>
          <a:prstGeom prst="ellipse">
            <a:avLst/>
          </a:prstGeom>
          <a:solidFill>
            <a:srgbClr val="FFFFFF"/>
          </a:solidFill>
          <a:ln>
            <a:noFill/>
          </a:ln>
        </p:spPr>
      </p:sp>
      <p:sp>
        <p:nvSpPr>
          <p:cNvPr id="49" name="عنوان قسم: المهام الجارية"/>
          <p:cNvSpPr txBox="1"/>
          <p:nvPr/>
        </p:nvSpPr>
        <p:spPr>
          <a:xfrm>
            <a:off x="2214000" y="5061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الجارية</a:t>
            </a:r>
          </a:p>
        </p:txBody>
      </p:sp>
      <p:sp>
        <p:nvSpPr>
          <p:cNvPr id="50" name="أيقونة قسم"/>
          <p:cNvSpPr/>
          <p:nvPr/>
        </p:nvSpPr>
        <p:spPr>
          <a:xfrm>
            <a:off x="6984000" y="7185600"/>
            <a:ext cx="144000" cy="144000"/>
          </a:xfrm>
          <a:prstGeom prst="ellipse">
            <a:avLst/>
          </a:prstGeom>
          <a:solidFill>
            <a:srgbClr val="6459A7"/>
          </a:solidFill>
          <a:ln>
            <a:noFill/>
          </a:ln>
        </p:spPr>
      </p:sp>
      <p:sp>
        <p:nvSpPr>
          <p:cNvPr id="51" name="أيقونة قسم داخلية"/>
          <p:cNvSpPr/>
          <p:nvPr/>
        </p:nvSpPr>
        <p:spPr>
          <a:xfrm>
            <a:off x="7029000" y="7230600"/>
            <a:ext cx="54000" cy="54000"/>
          </a:xfrm>
          <a:prstGeom prst="ellipse">
            <a:avLst/>
          </a:prstGeom>
          <a:solidFill>
            <a:srgbClr val="FFFFFF"/>
          </a:solidFill>
          <a:ln>
            <a:noFill/>
          </a:ln>
        </p:spPr>
      </p:sp>
      <p:sp>
        <p:nvSpPr>
          <p:cNvPr id="52" name="عنوان قسم: خطة الأسبوع المقبل"/>
          <p:cNvSpPr txBox="1"/>
          <p:nvPr/>
        </p:nvSpPr>
        <p:spPr>
          <a:xfrm>
            <a:off x="2214000" y="7113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خطة الأسبوع المقبل</a:t>
            </a:r>
          </a:p>
        </p:txBody>
      </p:sp>
      <p:sp>
        <p:nvSpPr>
          <p:cNvPr id="53" name="خطة الأسبوع المقبل"/>
          <p:cNvSpPr>
            <a:spLocks noGrp="1"/>
          </p:cNvSpPr>
          <p:nvPr>
            <p:ph type="body" sz="quarter" idx="110" hasCustomPrompt="1"/>
          </p:nvPr>
        </p:nvSpPr>
        <p:spPr>
          <a:xfrm>
            <a:off x="432000" y="7398000"/>
            <a:ext cx="6696000" cy="1368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6459A7"/>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مهام الأسبوع المقبل، مهمة في كل سطر: النتيجة المتوقعة + اليوم. خمسة بنود كحد أقصى.</a:t>
            </a:r>
          </a:p>
        </p:txBody>
      </p:sp>
      <p:sp>
        <p:nvSpPr>
          <p:cNvPr id="54" name="صندوق القرار"/>
          <p:cNvSpPr/>
          <p:nvPr/>
        </p:nvSpPr>
        <p:spPr>
          <a:xfrm>
            <a:off x="3708000" y="8892000"/>
            <a:ext cx="3420000" cy="1080000"/>
          </a:xfrm>
          <a:prstGeom prst="roundRect">
            <a:avLst>
              <a:gd name="adj" fmla="val 5000"/>
            </a:avLst>
          </a:prstGeom>
          <a:solidFill>
            <a:srgbClr val="E8F7F1"/>
          </a:solidFill>
          <a:ln w="9525">
            <a:solidFill>
              <a:srgbClr val="0C7373"/>
            </a:solidFill>
          </a:ln>
        </p:spPr>
      </p:sp>
      <p:sp>
        <p:nvSpPr>
          <p:cNvPr id="55" name="تسمية القرار"/>
          <p:cNvSpPr txBox="1"/>
          <p:nvPr/>
        </p:nvSpPr>
        <p:spPr>
          <a:xfrm>
            <a:off x="3852000" y="8964000"/>
            <a:ext cx="3132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200" b="1" dirty="0">
                <a:solidFill>
                  <a:srgbClr val="0C7373"/>
                </a:solidFill>
                <a:latin typeface="IBM Plex Sans Arabic"/>
                <a:cs typeface="IBM Plex Sans Arabic"/>
              </a:rPr>
              <a:t>قرار أو دعم مطلوب من المدير</a:t>
            </a:r>
          </a:p>
        </p:txBody>
      </p:sp>
      <p:sp>
        <p:nvSpPr>
          <p:cNvPr id="56" name="القرار المطلوب"/>
          <p:cNvSpPr>
            <a:spLocks noGrp="1"/>
          </p:cNvSpPr>
          <p:nvPr>
            <p:ph type="body" sz="quarter" idx="111" hasCustomPrompt="1"/>
          </p:nvPr>
        </p:nvSpPr>
        <p:spPr>
          <a:xfrm>
            <a:off x="3852000" y="9234000"/>
            <a:ext cx="3132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15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050" dirty="0">
                <a:solidFill>
                  <a:srgbClr val="5F6B7A"/>
                </a:solidFill>
                <a:latin typeface="IBM Plex Sans Arabic Medium"/>
                <a:cs typeface="IBM Plex Sans Arabic Medium"/>
              </a:defRPr>
            </a:lvl5pPr>
          </a:lstStyle>
          <a:p>
            <a:r>
              <a:rPr lang="ar-SA" dirty="0"/>
              <a:t>المطلوب: … | قبل: (التاريخ) | أثر التأخير: … (اتركه فارغًا إن لم يوجد)</a:t>
            </a:r>
          </a:p>
        </p:txBody>
      </p:sp>
      <p:sp>
        <p:nvSpPr>
          <p:cNvPr id="57" name="صندوق التحديات"/>
          <p:cNvSpPr/>
          <p:nvPr/>
        </p:nvSpPr>
        <p:spPr>
          <a:xfrm>
            <a:off x="432000" y="8892000"/>
            <a:ext cx="3132000" cy="1080000"/>
          </a:xfrm>
          <a:prstGeom prst="roundRect">
            <a:avLst>
              <a:gd name="adj" fmla="val 5000"/>
            </a:avLst>
          </a:prstGeom>
          <a:solidFill>
            <a:srgbClr val="F4F5F7"/>
          </a:solidFill>
          <a:ln w="6350">
            <a:solidFill>
              <a:srgbClr val="C9CFD9"/>
            </a:solidFill>
          </a:ln>
        </p:spPr>
      </p:sp>
      <p:sp>
        <p:nvSpPr>
          <p:cNvPr id="58" name="تسمية التحديات"/>
          <p:cNvSpPr txBox="1"/>
          <p:nvPr/>
        </p:nvSpPr>
        <p:spPr>
          <a:xfrm>
            <a:off x="576000" y="8964000"/>
            <a:ext cx="2844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000" b="1" dirty="0">
                <a:solidFill>
                  <a:srgbClr val="5F6B7A"/>
                </a:solidFill>
                <a:latin typeface="IBM Plex Sans Arabic"/>
                <a:cs typeface="IBM Plex Sans Arabic"/>
              </a:rPr>
              <a:t>التحديات</a:t>
            </a:r>
          </a:p>
        </p:txBody>
      </p:sp>
      <p:sp>
        <p:nvSpPr>
          <p:cNvPr id="59" name="التحديات"/>
          <p:cNvSpPr>
            <a:spLocks noGrp="1"/>
          </p:cNvSpPr>
          <p:nvPr>
            <p:ph type="body" sz="quarter" idx="112" hasCustomPrompt="1"/>
          </p:nvPr>
        </p:nvSpPr>
        <p:spPr>
          <a:xfrm>
            <a:off x="576000" y="9234000"/>
            <a:ext cx="2844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4F5B6A"/>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جملة واحدة: السبب ← الأثر ← الموعد الجديد ← هل يحتاج تدخّلك؟ (اتركه فارغًا إن لم يوجد)</a:t>
            </a:r>
          </a:p>
        </p:txBody>
      </p:sp>
      <p:cxnSp>
        <p:nvCxnSpPr>
          <p:cNvPr id="60" name="فاصل التذييل"/>
          <p:cNvCxnSpPr/>
          <p:nvPr/>
        </p:nvCxnSpPr>
        <p:spPr>
          <a:xfrm>
            <a:off x="432000" y="10134000"/>
            <a:ext cx="6696000" cy="0"/>
          </a:xfrm>
          <a:prstGeom prst="line">
            <a:avLst/>
          </a:prstGeom>
          <a:ln w="9525" cap="rnd">
            <a:solidFill>
              <a:srgbClr val="BFC6D1"/>
            </a:solidFill>
            <a:round/>
          </a:ln>
        </p:spPr>
      </p:cxnSp>
      <p:sp>
        <p:nvSpPr>
          <p:cNvPr id="61" name="تسمية إعداد:"/>
          <p:cNvSpPr txBox="1"/>
          <p:nvPr/>
        </p:nvSpPr>
        <p:spPr>
          <a:xfrm>
            <a:off x="6660000" y="10206000"/>
            <a:ext cx="468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إعداد:</a:t>
            </a:r>
          </a:p>
        </p:txBody>
      </p:sp>
      <p:sp>
        <p:nvSpPr>
          <p:cNvPr id="62" name="اسم المُعِد"/>
          <p:cNvSpPr>
            <a:spLocks noGrp="1"/>
          </p:cNvSpPr>
          <p:nvPr>
            <p:ph type="body" sz="quarter" idx="113" hasCustomPrompt="1"/>
          </p:nvPr>
        </p:nvSpPr>
        <p:spPr>
          <a:xfrm>
            <a:off x="5220000" y="10206000"/>
            <a:ext cx="1440000" cy="252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الاسم</a:t>
            </a:r>
          </a:p>
        </p:txBody>
      </p:sp>
      <p:sp>
        <p:nvSpPr>
          <p:cNvPr id="63" name="تسمية التوقيع:"/>
          <p:cNvSpPr txBox="1"/>
          <p:nvPr/>
        </p:nvSpPr>
        <p:spPr>
          <a:xfrm>
            <a:off x="4572000" y="10206000"/>
            <a:ext cx="540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التوقيع:</a:t>
            </a:r>
          </a:p>
        </p:txBody>
      </p:sp>
      <p:cxnSp>
        <p:nvCxnSpPr>
          <p:cNvPr id="64" name="خط التوقيع"/>
          <p:cNvCxnSpPr/>
          <p:nvPr/>
        </p:nvCxnSpPr>
        <p:spPr>
          <a:xfrm>
            <a:off x="3348000" y="10414800"/>
            <a:ext cx="1188000" cy="0"/>
          </a:xfrm>
          <a:prstGeom prst="line">
            <a:avLst/>
          </a:prstGeom>
          <a:ln w="9525" cap="rnd">
            <a:solidFill>
              <a:srgbClr val="BFC6D1"/>
            </a:solidFill>
            <a:round/>
          </a:ln>
        </p:spPr>
      </p:cxnSp>
      <p:sp>
        <p:nvSpPr>
          <p:cNvPr id="65" name="تسمية التاريخ:"/>
          <p:cNvSpPr txBox="1"/>
          <p:nvPr/>
        </p:nvSpPr>
        <p:spPr>
          <a:xfrm>
            <a:off x="2736000" y="10206000"/>
            <a:ext cx="504000" cy="252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950" b="1" dirty="0">
                <a:solidFill>
                  <a:srgbClr val="5F6B7A"/>
                </a:solidFill>
                <a:latin typeface="IBM Plex Sans Arabic"/>
                <a:cs typeface="IBM Plex Sans Arabic"/>
              </a:rPr>
              <a:t>التاريخ:</a:t>
            </a:r>
          </a:p>
        </p:txBody>
      </p:sp>
      <p:sp>
        <p:nvSpPr>
          <p:cNvPr id="66" name="تاريخ التوقيع"/>
          <p:cNvSpPr>
            <a:spLocks noGrp="1"/>
          </p:cNvSpPr>
          <p:nvPr>
            <p:ph type="body" sz="quarter" idx="114" hasCustomPrompt="1"/>
          </p:nvPr>
        </p:nvSpPr>
        <p:spPr>
          <a:xfrm>
            <a:off x="1656000" y="10206000"/>
            <a:ext cx="1080000" cy="252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اليوم الشهر السنة</a:t>
            </a:r>
          </a:p>
        </p:txBody>
      </p:sp>
      <p:sp>
        <p:nvSpPr>
          <p:cNvPr id="67" name="نص التذييل الثابت"/>
          <p:cNvSpPr txBox="1"/>
          <p:nvPr/>
        </p:nvSpPr>
        <p:spPr>
          <a:xfrm>
            <a:off x="432000" y="10206000"/>
            <a:ext cx="1440000" cy="252000"/>
          </a:xfrm>
          <a:prstGeom prst="rect">
            <a:avLst/>
          </a:prstGeom>
          <a:noFill/>
          <a:ln>
            <a:noFill/>
          </a:ln>
        </p:spPr>
        <p:txBody>
          <a:bodyPr wrap="square" lIns="0" tIns="0" rIns="0" bIns="0" rtlCol="0" anchor="ctr"/>
          <a:lstStyle/>
          <a:p>
            <a:pPr marL="0" indent="0" algn="l" rtl="1">
              <a:lnSpc>
                <a:spcPct val="100000"/>
              </a:lnSpc>
              <a:spcBef>
                <a:spcPts val="0"/>
              </a:spcBef>
              <a:spcAft>
                <a:spcPts val="0"/>
              </a:spcAft>
              <a:buNone/>
            </a:pPr>
            <a:r>
              <a:rPr lang="ar-SA" sz="850" dirty="0">
                <a:solidFill>
                  <a:srgbClr val="6C727E"/>
                </a:solidFill>
                <a:latin typeface="IBM Plex Sans Arabic"/>
                <a:cs typeface="IBM Plex Sans Arabic"/>
              </a:rPr>
              <a:t>تقرير أسبوعي — للاستخدام الداخلي</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r" defTabSz="457200" rtl="1" eaLnBrk="1" latinLnBrk="0" hangingPunct="1">
        <a:spcBef>
          <a:spcPct val="0"/>
        </a:spcBef>
        <a:buNone/>
        <a:defRPr sz="2200" kern="1200" lang="ar-SA">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100" kern="1200" lang="ar-SA">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100" kern="1200" lang="ar-SA">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9pPr>
    </p:bodyStyle>
    <p:otherStyle>
      <a:defPPr>
        <a:defRPr lang="en-US"/>
      </a:defPPr>
      <a:lvl1pPr marL="0" algn="r" defTabSz="457200" rtl="1" eaLnBrk="1" latinLnBrk="0" hangingPunct="1">
        <a:defRPr sz="1100" kern="1200" lang="ar-SA">
          <a:solidFill>
            <a:schemeClr val="tx1"/>
          </a:solidFill>
          <a:latin typeface="+mn-lt"/>
          <a:ea typeface="+mn-ea"/>
          <a:cs typeface="+mn-cs"/>
        </a:defRPr>
      </a:lvl1pPr>
      <a:lvl2pPr marL="457200" algn="r" defTabSz="457200" rtl="1" eaLnBrk="1" latinLnBrk="0" hangingPunct="1">
        <a:defRPr sz="1100" kern="1200" lang="ar-SA">
          <a:solidFill>
            <a:schemeClr val="tx1"/>
          </a:solidFill>
          <a:latin typeface="+mn-lt"/>
          <a:ea typeface="+mn-ea"/>
          <a:cs typeface="+mn-cs"/>
        </a:defRPr>
      </a:lvl2pPr>
      <a:lvl3pPr marL="914400" algn="r" defTabSz="457200" rtl="1" eaLnBrk="1" latinLnBrk="0" hangingPunct="1">
        <a:defRPr sz="1100" kern="1200" lang="ar-SA">
          <a:solidFill>
            <a:schemeClr val="tx1"/>
          </a:solidFill>
          <a:latin typeface="+mn-lt"/>
          <a:ea typeface="+mn-ea"/>
          <a:cs typeface="+mn-cs"/>
        </a:defRPr>
      </a:lvl3pPr>
      <a:lvl4pPr marL="1371600" algn="r" defTabSz="457200" rtl="1" eaLnBrk="1" latinLnBrk="0" hangingPunct="1">
        <a:defRPr sz="1100" kern="1200" lang="ar-SA">
          <a:solidFill>
            <a:schemeClr val="tx1"/>
          </a:solidFill>
          <a:latin typeface="+mn-lt"/>
          <a:ea typeface="+mn-ea"/>
          <a:cs typeface="+mn-cs"/>
        </a:defRPr>
      </a:lvl4pPr>
      <a:lvl5pPr marL="1828800" algn="r" defTabSz="457200" rtl="1" eaLnBrk="1" latinLnBrk="0" hangingPunct="1">
        <a:defRPr sz="1100" kern="1200" lang="ar-SA">
          <a:solidFill>
            <a:schemeClr val="tx1"/>
          </a:solidFill>
          <a:latin typeface="+mn-lt"/>
          <a:ea typeface="+mn-ea"/>
          <a:cs typeface="+mn-cs"/>
        </a:defRPr>
      </a:lvl5pPr>
      <a:lvl6pPr marL="2286000" algn="r" defTabSz="457200" rtl="1" eaLnBrk="1" latinLnBrk="0" hangingPunct="1">
        <a:defRPr sz="1100" kern="1200" lang="ar-SA">
          <a:solidFill>
            <a:schemeClr val="tx1"/>
          </a:solidFill>
          <a:latin typeface="+mn-lt"/>
          <a:ea typeface="+mn-ea"/>
          <a:cs typeface="+mn-cs"/>
        </a:defRPr>
      </a:lvl6pPr>
      <a:lvl7pPr marL="2743200" algn="r" defTabSz="457200" rtl="1" eaLnBrk="1" latinLnBrk="0" hangingPunct="1">
        <a:defRPr sz="1100" kern="1200" lang="ar-SA">
          <a:solidFill>
            <a:schemeClr val="tx1"/>
          </a:solidFill>
          <a:latin typeface="+mn-lt"/>
          <a:ea typeface="+mn-ea"/>
          <a:cs typeface="+mn-cs"/>
        </a:defRPr>
      </a:lvl7pPr>
      <a:lvl8pPr marL="3200400" algn="r" defTabSz="457200" rtl="1" eaLnBrk="1" latinLnBrk="0" hangingPunct="1">
        <a:defRPr sz="1100" kern="1200" lang="ar-SA">
          <a:solidFill>
            <a:schemeClr val="tx1"/>
          </a:solidFill>
          <a:latin typeface="+mn-lt"/>
          <a:ea typeface="+mn-ea"/>
          <a:cs typeface="+mn-cs"/>
        </a:defRPr>
      </a:lvl8pPr>
      <a:lvl9pPr marL="3657600" algn="r" defTabSz="457200" rtl="1" eaLnBrk="1" latinLnBrk="0" hangingPunct="1">
        <a:defRPr sz="1100" kern="1200" lang="ar-SA">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الشعار"/>
          <p:cNvSpPr>
            <a:spLocks noGrp="1"/>
          </p:cNvSpPr>
          <p:nvPr>
            <p:ph type="pic" idx="120" sz="quarter"/>
          </p:nvPr>
        </p:nvSpPr>
        <p:spPr/>
      </p:sp>
      <p:sp>
        <p:nvSpPr>
          <p:cNvPr id="3" name="اسم الجهة"/>
          <p:cNvSpPr>
            <a:spLocks noGrp="1"/>
          </p:cNvSpPr>
          <p:nvPr>
            <p:ph type="body" idx="101" sz="quarter"/>
          </p:nvPr>
        </p:nvSpPr>
        <p:spPr/>
        <p:txBody>
          <a:bodyPr wrap="square" lIns="0" tIns="0" rIns="0" bIns="0" rtlCol="0" anchor="ctr">
            <a:normAutofit/>
          </a:bodyPr>
          <a:lstStyle/>
          <a:p>
            <a:pPr rtl="1" algn="r"/>
            <a:endParaRPr lang="ar-SA" dirty="0"/>
          </a:p>
        </p:txBody>
      </p:sp>
      <p:sp>
        <p:nvSpPr>
          <p:cNvPr id="4" name="الفترة"/>
          <p:cNvSpPr>
            <a:spLocks noGrp="1"/>
          </p:cNvSpPr>
          <p:nvPr>
            <p:ph type="body" idx="102" sz="quarter"/>
          </p:nvPr>
        </p:nvSpPr>
        <p:spPr/>
        <p:txBody>
          <a:bodyPr wrap="square" lIns="0" tIns="0" rIns="0" bIns="0" rtlCol="0" anchor="t">
            <a:normAutofit/>
          </a:bodyPr>
          <a:lstStyle/>
          <a:p>
            <a:pPr rtl="1" algn="r"/>
            <a:endParaRPr lang="ar-SA" dirty="0"/>
          </a:p>
        </p:txBody>
      </p:sp>
      <p:sp>
        <p:nvSpPr>
          <p:cNvPr id="5" name="إعداد"/>
          <p:cNvSpPr>
            <a:spLocks noGrp="1"/>
          </p:cNvSpPr>
          <p:nvPr>
            <p:ph type="body" idx="103" sz="quarter"/>
          </p:nvPr>
        </p:nvSpPr>
        <p:spPr/>
        <p:txBody>
          <a:bodyPr wrap="square" lIns="0" tIns="0" rIns="0" bIns="0" rtlCol="0" anchor="t">
            <a:normAutofit/>
          </a:bodyPr>
          <a:lstStyle/>
          <a:p>
            <a:pPr rtl="1" algn="r"/>
            <a:endParaRPr lang="ar-SA" dirty="0"/>
          </a:p>
        </p:txBody>
      </p:sp>
      <p:sp>
        <p:nvSpPr>
          <p:cNvPr id="6" name="مقدَّم إلى"/>
          <p:cNvSpPr>
            <a:spLocks noGrp="1"/>
          </p:cNvSpPr>
          <p:nvPr>
            <p:ph type="body" idx="104" sz="quarter"/>
          </p:nvPr>
        </p:nvSpPr>
        <p:spPr/>
        <p:txBody>
          <a:bodyPr wrap="square" lIns="0" tIns="0" rIns="0" bIns="0" rtlCol="0" anchor="t">
            <a:normAutofit/>
          </a:bodyPr>
          <a:lstStyle/>
          <a:p>
            <a:pPr rtl="1" algn="r"/>
            <a:endParaRPr lang="ar-SA" dirty="0"/>
          </a:p>
        </p:txBody>
      </p:sp>
      <p:sp>
        <p:nvSpPr>
          <p:cNvPr id="7" name="خلاصة الأسبوع"/>
          <p:cNvSpPr>
            <a:spLocks noGrp="1"/>
          </p:cNvSpPr>
          <p:nvPr>
            <p:ph type="body" idx="105" sz="quarter"/>
          </p:nvPr>
        </p:nvSpPr>
        <p:spPr/>
        <p:txBody>
          <a:bodyPr wrap="square" lIns="0" tIns="0" rIns="0" bIns="0" rtlCol="0" anchor="t">
            <a:normAutofit/>
          </a:bodyPr>
          <a:lstStyle/>
          <a:p>
            <a:pPr rtl="1" algn="r"/>
            <a:endParaRPr lang="ar-SA" dirty="0"/>
          </a:p>
        </p:txBody>
      </p:sp>
      <p:sp>
        <p:nvSpPr>
          <p:cNvPr id="8" name="عدد المهام المنجزة"/>
          <p:cNvSpPr>
            <a:spLocks noGrp="1"/>
          </p:cNvSpPr>
          <p:nvPr>
            <p:ph type="body" idx="106" sz="quarter"/>
          </p:nvPr>
        </p:nvSpPr>
        <p:spPr/>
        <p:txBody>
          <a:bodyPr wrap="square" lIns="0" tIns="0" rIns="0" bIns="0" rtlCol="0" anchor="ctr">
            <a:normAutofit/>
          </a:bodyPr>
          <a:lstStyle/>
          <a:p>
            <a:pPr rtl="1" algn="ctr"/>
            <a:endParaRPr lang="ar-SA" dirty="0"/>
          </a:p>
        </p:txBody>
      </p:sp>
      <p:sp>
        <p:nvSpPr>
          <p:cNvPr id="9" name="عدد المهام الجارية"/>
          <p:cNvSpPr>
            <a:spLocks noGrp="1"/>
          </p:cNvSpPr>
          <p:nvPr>
            <p:ph type="body" idx="107" sz="quarter"/>
          </p:nvPr>
        </p:nvSpPr>
        <p:spPr/>
        <p:txBody>
          <a:bodyPr wrap="square" lIns="0" tIns="0" rIns="0" bIns="0" rtlCol="0" anchor="ctr">
            <a:normAutofit/>
          </a:bodyPr>
          <a:lstStyle/>
          <a:p>
            <a:pPr rtl="1" algn="ctr"/>
            <a:endParaRPr lang="ar-SA" dirty="0"/>
          </a:p>
        </p:txBody>
      </p:sp>
      <p:sp>
        <p:nvSpPr>
          <p:cNvPr id="10" name="عدد المهام المقبلة"/>
          <p:cNvSpPr>
            <a:spLocks noGrp="1"/>
          </p:cNvSpPr>
          <p:nvPr>
            <p:ph type="body" idx="108" sz="quarter"/>
          </p:nvPr>
        </p:nvSpPr>
        <p:spPr/>
        <p:txBody>
          <a:bodyPr wrap="square" lIns="0" tIns="0" rIns="0" bIns="0" rtlCol="0" anchor="ctr">
            <a:normAutofit/>
          </a:bodyPr>
          <a:lstStyle/>
          <a:p>
            <a:pPr rtl="1" algn="ctr"/>
            <a:endParaRPr lang="ar-SA" dirty="0"/>
          </a:p>
        </p:txBody>
      </p:sp>
      <p:sp>
        <p:nvSpPr>
          <p:cNvPr id="11" name="المهام المنجزة"/>
          <p:cNvSpPr>
            <a:spLocks noGrp="1"/>
          </p:cNvSpPr>
          <p:nvPr>
            <p:ph type="body" idx="109" sz="quarter"/>
          </p:nvPr>
        </p:nvSpPr>
        <p:spPr/>
        <p:txBody>
          <a:bodyPr wrap="square" lIns="0" tIns="0" rIns="0" bIns="0" rtlCol="0" anchor="t">
            <a:normAutofit/>
          </a:bodyPr>
          <a:lstStyle/>
          <a:p>
            <a:pPr rtl="1" algn="r"/>
            <a:endParaRPr lang="ar-SA" dirty="0"/>
          </a:p>
        </p:txBody>
      </p:sp>
      <p:sp>
        <p:nvSpPr>
          <p:cNvPr id="12" name="خطة الأسبوع المقبل"/>
          <p:cNvSpPr>
            <a:spLocks noGrp="1"/>
          </p:cNvSpPr>
          <p:nvPr>
            <p:ph type="body" idx="110" sz="quarter"/>
          </p:nvPr>
        </p:nvSpPr>
        <p:spPr/>
        <p:txBody>
          <a:bodyPr wrap="square" lIns="0" tIns="0" rIns="0" bIns="0" rtlCol="0" anchor="t">
            <a:normAutofit/>
          </a:bodyPr>
          <a:lstStyle/>
          <a:p>
            <a:pPr rtl="1" algn="r"/>
            <a:endParaRPr lang="ar-SA" dirty="0"/>
          </a:p>
        </p:txBody>
      </p:sp>
      <p:sp>
        <p:nvSpPr>
          <p:cNvPr id="13" name="القرار المطلوب"/>
          <p:cNvSpPr>
            <a:spLocks noGrp="1"/>
          </p:cNvSpPr>
          <p:nvPr>
            <p:ph type="body" idx="111" sz="quarter"/>
          </p:nvPr>
        </p:nvSpPr>
        <p:spPr/>
        <p:txBody>
          <a:bodyPr wrap="square" lIns="0" tIns="0" rIns="0" bIns="0" rtlCol="0" anchor="t">
            <a:normAutofit/>
          </a:bodyPr>
          <a:lstStyle/>
          <a:p>
            <a:pPr rtl="1" algn="r"/>
            <a:endParaRPr lang="ar-SA" dirty="0"/>
          </a:p>
        </p:txBody>
      </p:sp>
      <p:sp>
        <p:nvSpPr>
          <p:cNvPr id="14" name="التحديات"/>
          <p:cNvSpPr>
            <a:spLocks noGrp="1"/>
          </p:cNvSpPr>
          <p:nvPr>
            <p:ph type="body" idx="112" sz="quarter"/>
          </p:nvPr>
        </p:nvSpPr>
        <p:spPr/>
        <p:txBody>
          <a:bodyPr wrap="square" lIns="0" tIns="0" rIns="0" bIns="0" rtlCol="0" anchor="t">
            <a:normAutofit/>
          </a:bodyPr>
          <a:lstStyle/>
          <a:p>
            <a:pPr rtl="1" algn="r"/>
            <a:endParaRPr lang="ar-SA" dirty="0"/>
          </a:p>
        </p:txBody>
      </p:sp>
      <p:sp>
        <p:nvSpPr>
          <p:cNvPr id="15" name="اسم المُعِد"/>
          <p:cNvSpPr>
            <a:spLocks noGrp="1"/>
          </p:cNvSpPr>
          <p:nvPr>
            <p:ph type="body" idx="113" sz="quarter"/>
          </p:nvPr>
        </p:nvSpPr>
        <p:spPr/>
        <p:txBody>
          <a:bodyPr wrap="square" lIns="0" tIns="0" rIns="0" bIns="0" rtlCol="0" anchor="ctr">
            <a:normAutofit/>
          </a:bodyPr>
          <a:lstStyle/>
          <a:p>
            <a:pPr rtl="1" algn="r"/>
            <a:endParaRPr lang="ar-SA" dirty="0"/>
          </a:p>
        </p:txBody>
      </p:sp>
      <p:sp>
        <p:nvSpPr>
          <p:cNvPr id="16" name="تاريخ التوقيع"/>
          <p:cNvSpPr>
            <a:spLocks noGrp="1"/>
          </p:cNvSpPr>
          <p:nvPr>
            <p:ph type="body" idx="114" sz="quarter"/>
          </p:nvPr>
        </p:nvSpPr>
        <p:spPr/>
        <p:txBody>
          <a:bodyPr wrap="square" lIns="0" tIns="0" rIns="0" bIns="0" rtlCol="0" anchor="ctr">
            <a:normAutofit/>
          </a:bodyPr>
          <a:lstStyle/>
          <a:p>
            <a:pPr rtl="1" algn="r"/>
            <a:endParaRPr lang="ar-SA" dirty="0"/>
          </a:p>
        </p:txBody>
      </p:sp>
      <p:graphicFrame>
        <p:nvGraphicFramePr>
          <p:cNvPr id="17" name="جدول المهام الجارية"/>
          <p:cNvGraphicFramePr>
            <a:graphicFrameLocks noGrp="1"/>
          </p:cNvGraphicFramePr>
          <p:nvPr/>
        </p:nvGraphicFramePr>
        <p:xfrm>
          <a:off x="432000" y="5346000"/>
          <a:ext cx="6696000" cy="1566000"/>
        </p:xfrm>
        <a:graphic>
          <a:graphicData uri="http://schemas.openxmlformats.org/drawingml/2006/table">
            <a:tbl>
              <a:tblPr firstRow="1" rtl="1">
                <a:tableStyleId>{2D5ABB26-0587-4C30-8999-92F81FD0307C}</a:tableStyleId>
              </a:tblPr>
              <a:tblGrid>
                <a:gridCol w="3240000"/>
                <a:gridCol w="864000"/>
                <a:gridCol w="1224000"/>
                <a:gridCol w="1368000"/>
              </a:tblGrid>
              <a:tr h="270000">
                <a:tc>
                  <a:txBody>
                    <a:bodyPr/>
                    <a:lstStyle/>
                    <a:p>
                      <a:pPr marL="0" indent="0" algn="r" rtl="1">
                        <a:lnSpc>
                          <a:spcPct val="100000"/>
                        </a:lnSpc>
                        <a:spcBef>
                          <a:spcPts val="0"/>
                        </a:spcBef>
                        <a:spcAft>
                          <a:spcPts val="0"/>
                        </a:spcAft>
                        <a:buNone/>
                      </a:pPr>
                      <a:r>
                        <a:rPr lang="ar-SA" sz="1000" b="1" dirty="0">
                          <a:solidFill>
                            <a:srgbClr val="273470"/>
                          </a:solidFill>
                          <a:latin typeface="IBM Plex Sans Arabic"/>
                          <a:cs typeface="IBM Plex Sans Arabic"/>
                        </a:rPr>
                        <a:t>المهمة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نسبة الإنجاز (٪)</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الموعد المستهدف</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الحالة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endParaRPr lang="ar-SA" sz="1050" dirty="0">
                        <a:solidFill>
                          <a:srgbClr val="1F2A37"/>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endParaRPr lang="ar-SA" sz="1050" dirty="0">
                        <a:solidFill>
                          <a:srgbClr val="5F6B7A"/>
                        </a:solidFill>
                        <a:latin typeface="IBM Plex Sans Arabic Medium"/>
                        <a:cs typeface="IBM Plex Sans Arabic Medium"/>
                      </a:endParaRPr>
                    </a:p>
                  </a:txBody>
                  <a:tcPr marL="79200" marR="79200" marT="36000" marB="36000" anchor="ctr">
                    <a:lnL>
                      <a:noFill/>
                    </a:lnL>
                    <a:lnR>
                      <a:noFill/>
                    </a:lnR>
                    <a:lnT>
                      <a:noFill/>
                    </a:lnT>
                    <a:lnB w="9525" cap="flat" cmpd="sng" algn="ctr">
                      <a:solidFill>
                        <a:srgbClr val="BFC6D1"/>
                      </a:solidFill>
                      <a:prstDash val="solid"/>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1" name="خلفية الدليل"/>
          <p:cNvSpPr/>
          <p:nvPr/>
        </p:nvSpPr>
        <p:spPr>
          <a:xfrm>
            <a:off x="0" y="0"/>
            <a:ext cx="7560000" cy="1224000"/>
          </a:xfrm>
          <a:prstGeom prst="rect">
            <a:avLst/>
          </a:prstGeom>
          <a:solidFill>
            <a:srgbClr val="273470"/>
          </a:solidFill>
          <a:ln>
            <a:noFill/>
          </a:ln>
        </p:spPr>
      </p:sp>
      <p:sp>
        <p:nvSpPr>
          <p:cNvPr id="12" name="عنوان الدليل"/>
          <p:cNvSpPr txBox="1"/>
          <p:nvPr/>
        </p:nvSpPr>
        <p:spPr>
          <a:xfrm>
            <a:off x="432000" y="288000"/>
            <a:ext cx="6696000" cy="360000"/>
          </a:xfrm>
          <a:prstGeom prst="rect">
            <a:avLst/>
          </a:prstGeom>
          <a:noFill/>
          <a:ln>
            <a:noFill/>
          </a:ln>
        </p:spPr>
        <p:txBody>
          <a:bodyPr wrap="square" lIns="0" tIns="0" rIns="0" bIns="0" rtlCol="0" anchor="ctr"/>
          <a:lstStyle/>
          <a:p>
            <a:pPr marL="0" indent="0" algn="r" rtl="1">
              <a:spcBef>
                <a:spcPts val="0"/>
              </a:spcBef>
              <a:buNone/>
            </a:pPr>
            <a:r>
              <a:rPr lang="ar-SA" sz="2000" b="1" dirty="0">
                <a:solidFill>
                  <a:srgbClr val="FFFFFF"/>
                </a:solidFill>
                <a:latin typeface="IBM Plex Sans Arabic"/>
                <a:cs typeface="IBM Plex Sans Arabic"/>
              </a:rPr>
              <a:t>دليل استخدام القالب</a:t>
            </a:r>
          </a:p>
        </p:txBody>
      </p:sp>
      <p:sp>
        <p:nvSpPr>
          <p:cNvPr id="13" name="تنبيه"/>
          <p:cNvSpPr txBox="1"/>
          <p:nvPr/>
        </p:nvSpPr>
        <p:spPr>
          <a:xfrm>
            <a:off x="432000" y="684000"/>
            <a:ext cx="6696000" cy="288000"/>
          </a:xfrm>
          <a:prstGeom prst="rect">
            <a:avLst/>
          </a:prstGeom>
          <a:noFill/>
          <a:ln>
            <a:noFill/>
          </a:ln>
        </p:spPr>
        <p:txBody>
          <a:bodyPr wrap="square" lIns="0" tIns="0" rIns="0" bIns="0" rtlCol="0" anchor="ctr"/>
          <a:lstStyle/>
          <a:p>
            <a:pPr marL="0" indent="0" algn="r" rtl="1">
              <a:spcBef>
                <a:spcPts val="0"/>
              </a:spcBef>
              <a:buNone/>
            </a:pPr>
            <a:r>
              <a:rPr lang="ar-SA" sz="1000" dirty="0">
                <a:solidFill>
                  <a:srgbClr val="33CC99"/>
                </a:solidFill>
                <a:latin typeface="IBM Plex Sans Arabic"/>
                <a:cs typeface="IBM Plex Sans Arabic"/>
              </a:rPr>
              <a:t>هذه الشريحة مخفية: لا تظهر في العرض ولا في ملف PDF (وفي الطباعة تأكد من إلغاء «طباعة الشرائح المخفية»).</a:t>
            </a:r>
          </a:p>
        </p:txBody>
      </p:sp>
      <p:sp>
        <p:nvSpPr>
          <p:cNvPr id="14" name="عنوان فرعي"/>
          <p:cNvSpPr txBox="1"/>
          <p:nvPr/>
        </p:nvSpPr>
        <p:spPr>
          <a:xfrm>
            <a:off x="432000" y="1512000"/>
            <a:ext cx="6696000" cy="288000"/>
          </a:xfrm>
          <a:prstGeom prst="rect">
            <a:avLst/>
          </a:prstGeom>
          <a:noFill/>
          <a:ln>
            <a:noFill/>
          </a:ln>
        </p:spPr>
        <p:txBody>
          <a:bodyPr wrap="square" lIns="0" tIns="0" rIns="0" bIns="0" rtlCol="0" anchor="ctr"/>
          <a:lstStyle/>
          <a:p>
            <a:pPr marL="0" indent="0" algn="r" rtl="1">
              <a:spcBef>
                <a:spcPts val="0"/>
              </a:spcBef>
              <a:buNone/>
            </a:pPr>
            <a:r>
              <a:rPr lang="ar-SA" sz="1400" b="1" dirty="0">
                <a:solidFill>
                  <a:srgbClr val="273470"/>
                </a:solidFill>
                <a:latin typeface="IBM Plex Sans Arabic"/>
                <a:cs typeface="IBM Plex Sans Arabic"/>
              </a:rPr>
              <a:t>كيف تستخدم القالب؟</a:t>
            </a:r>
          </a:p>
        </p:txBody>
      </p:sp>
      <p:sp>
        <p:nvSpPr>
          <p:cNvPr id="15" name="رقم الخطوة"/>
          <p:cNvSpPr txBox="1"/>
          <p:nvPr/>
        </p:nvSpPr>
        <p:spPr>
          <a:xfrm>
            <a:off x="6840000" y="190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1</a:t>
            </a:r>
          </a:p>
        </p:txBody>
      </p:sp>
      <p:sp>
        <p:nvSpPr>
          <p:cNvPr id="16" name="دليل: الإدخال"/>
          <p:cNvSpPr txBox="1"/>
          <p:nvPr/>
        </p:nvSpPr>
        <p:spPr>
          <a:xfrm>
            <a:off x="432000" y="187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الإدخال</a:t>
            </a:r>
          </a:p>
        </p:txBody>
      </p:sp>
      <p:sp>
        <p:nvSpPr>
          <p:cNvPr id="17" name="نص: الإدخال"/>
          <p:cNvSpPr txBox="1"/>
          <p:nvPr/>
        </p:nvSpPr>
        <p:spPr>
          <a:xfrm>
            <a:off x="432000" y="21240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داخل الحقول ذات النص الإرشادي (يظهر بلون الحقل نفسه). يختفي النص الإرشادي فور الكتابة، وإن تركت الحقل فارغًا فلن يظهر في PDF ولا في الطباعة. استخدم الأرقام 0–9 في كل مكان، واكتب التواريخ باسم الشهر (5 نوفمبر 2026).</a:t>
            </a:r>
          </a:p>
        </p:txBody>
      </p:sp>
      <p:sp>
        <p:nvSpPr>
          <p:cNvPr id="18" name="رقم الخطوة"/>
          <p:cNvSpPr txBox="1"/>
          <p:nvPr/>
        </p:nvSpPr>
        <p:spPr>
          <a:xfrm>
            <a:off x="6840000" y="29736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2</a:t>
            </a:r>
          </a:p>
        </p:txBody>
      </p:sp>
      <p:sp>
        <p:nvSpPr>
          <p:cNvPr id="19" name="دليل: العداد"/>
          <p:cNvSpPr txBox="1"/>
          <p:nvPr/>
        </p:nvSpPr>
        <p:spPr>
          <a:xfrm>
            <a:off x="432000" y="29448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العداد</a:t>
            </a:r>
          </a:p>
        </p:txBody>
      </p:sp>
      <p:sp>
        <p:nvSpPr>
          <p:cNvPr id="20" name="نص: العداد"/>
          <p:cNvSpPr txBox="1"/>
          <p:nvPr/>
        </p:nvSpPr>
        <p:spPr>
          <a:xfrm>
            <a:off x="432000" y="31968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«تقرير رقم N» مرتبط تلقائيًا برقم الشريحة. لأسبوع جديد: حدّد شريحة الأسبوع السابق واضغط Ctrl+D، فتظهر نسخة برقم تالٍ تلقائيًا، وتبقى التقارير السابقة أرشيفًا في الملف نفسه. لا تحذف الشرائح القديمة حتى لا يتغيّر الترقيم؛ وإن حذفتها فاضبط «ترقيم الشرائح من» في: تصميم ← حجم الشريحة ← حجم شريحة مخصص.</a:t>
            </a:r>
          </a:p>
        </p:txBody>
      </p:sp>
      <p:sp>
        <p:nvSpPr>
          <p:cNvPr id="21" name="رقم الخطوة"/>
          <p:cNvSpPr txBox="1"/>
          <p:nvPr/>
        </p:nvSpPr>
        <p:spPr>
          <a:xfrm>
            <a:off x="6840000" y="42480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3</a:t>
            </a:r>
          </a:p>
        </p:txBody>
      </p:sp>
      <p:sp>
        <p:nvSpPr>
          <p:cNvPr id="22" name="دليل: الإخراج"/>
          <p:cNvSpPr txBox="1"/>
          <p:nvPr/>
        </p:nvSpPr>
        <p:spPr>
          <a:xfrm>
            <a:off x="432000" y="42192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الإخراج</a:t>
            </a:r>
          </a:p>
        </p:txBody>
      </p:sp>
      <p:sp>
        <p:nvSpPr>
          <p:cNvPr id="23" name="نص: الإخراج"/>
          <p:cNvSpPr txBox="1"/>
          <p:nvPr/>
        </p:nvSpPr>
        <p:spPr>
          <a:xfrm>
            <a:off x="432000" y="44712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ملف ← تصدير ← إنشاء PDF/XPS ← خيارات ← النطاق: «الشريحة الحالية». هذه الشريحة مخفية فلا تُصدَّر إلى PDF. للطباعة الورقية: اطبع من ملف PDF، أو من PowerPoint مع التأكد أن «طباعة الشرائح المخفية» غير مفعّلة، واختر «ملاءمة الورقة» على A4 عمودي.</a:t>
            </a:r>
          </a:p>
        </p:txBody>
      </p:sp>
      <p:sp>
        <p:nvSpPr>
          <p:cNvPr id="24" name="رقم الخطوة"/>
          <p:cNvSpPr txBox="1"/>
          <p:nvPr/>
        </p:nvSpPr>
        <p:spPr>
          <a:xfrm>
            <a:off x="6840000" y="532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4</a:t>
            </a:r>
          </a:p>
        </p:txBody>
      </p:sp>
      <p:sp>
        <p:nvSpPr>
          <p:cNvPr id="25" name="دليل: الجدول"/>
          <p:cNvSpPr txBox="1"/>
          <p:nvPr/>
        </p:nvSpPr>
        <p:spPr>
          <a:xfrm>
            <a:off x="432000" y="529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الجدول</a:t>
            </a:r>
          </a:p>
        </p:txBody>
      </p:sp>
      <p:sp>
        <p:nvSpPr>
          <p:cNvPr id="26" name="نص: الجدول"/>
          <p:cNvSpPr txBox="1"/>
          <p:nvPr/>
        </p:nvSpPr>
        <p:spPr>
          <a:xfrm>
            <a:off x="432000" y="55440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نسبة الإنجاز رقمًا فقط (الإشارة ٪ في رأس العمود). Tab ينتقل بين الخلايا من اليمين إلى اليسار، وفي آخر خلية يضيف صفًا. لحذف صف: زر الفأرة الأيمن ← حذف ← الصفوف. الحالة بأربع كلمات ثابتة: على المسار / تأخر بسيط / متأخر / متوقف، ولوّن المتأخر باللون الكهرماني العريض كما في المثال.</a:t>
            </a:r>
          </a:p>
        </p:txBody>
      </p:sp>
      <p:sp>
        <p:nvSpPr>
          <p:cNvPr id="27" name="رقم الخطوة"/>
          <p:cNvSpPr txBox="1"/>
          <p:nvPr/>
        </p:nvSpPr>
        <p:spPr>
          <a:xfrm>
            <a:off x="6840000" y="6595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5</a:t>
            </a:r>
          </a:p>
        </p:txBody>
      </p:sp>
      <p:sp>
        <p:nvSpPr>
          <p:cNvPr id="28" name="دليل: الشعار والجهة"/>
          <p:cNvSpPr txBox="1"/>
          <p:nvPr/>
        </p:nvSpPr>
        <p:spPr>
          <a:xfrm>
            <a:off x="432000" y="6566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الشعار والجهة</a:t>
            </a:r>
          </a:p>
        </p:txBody>
      </p:sp>
      <p:sp>
        <p:nvSpPr>
          <p:cNvPr id="29" name="نص: الشعار والجهة"/>
          <p:cNvSpPr txBox="1"/>
          <p:nvPr/>
        </p:nvSpPr>
        <p:spPr>
          <a:xfrm>
            <a:off x="432000" y="6818400"/>
            <a:ext cx="6264000" cy="4752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انقر أيقونة الصورة أعلى اليمين لإدراج شعار جهتك مرة واحدة؛ يُنسخ تلقائيًا مع تكرار الشريحة. إن حُذف حقل أو تحرّك بالخطأ: الصفحة الرئيسية ← إعادة تعيين (Reset).</a:t>
            </a:r>
          </a:p>
        </p:txBody>
      </p:sp>
      <p:sp>
        <p:nvSpPr>
          <p:cNvPr id="30" name="رقم الخطوة"/>
          <p:cNvSpPr txBox="1"/>
          <p:nvPr/>
        </p:nvSpPr>
        <p:spPr>
          <a:xfrm>
            <a:off x="6840000" y="74664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6</a:t>
            </a:r>
          </a:p>
        </p:txBody>
      </p:sp>
      <p:sp>
        <p:nvSpPr>
          <p:cNvPr id="31" name="دليل: الخط"/>
          <p:cNvSpPr txBox="1"/>
          <p:nvPr/>
        </p:nvSpPr>
        <p:spPr>
          <a:xfrm>
            <a:off x="432000" y="74376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الخط</a:t>
            </a:r>
          </a:p>
        </p:txBody>
      </p:sp>
      <p:sp>
        <p:nvSpPr>
          <p:cNvPr id="32" name="نص: الخط"/>
          <p:cNvSpPr txBox="1"/>
          <p:nvPr/>
        </p:nvSpPr>
        <p:spPr>
          <a:xfrm>
            <a:off x="432000" y="76896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القالب مبني على خط IBM Plex Sans Arabic بوزنيه Regular وBold للعناوين وMedium للمتن (مرفقة في مجلد fonts، ترخيص مفتوح). ثبّت الملفات الأربعة بالنقر المزدوج ← «تثبيت»؛ لا يحتاج صلاحيات مسؤول. دون تثبيتها يستبدلها أوفيس بخط قريب.</a:t>
            </a:r>
          </a:p>
        </p:txBody>
      </p:sp>
      <p:sp>
        <p:nvSpPr>
          <p:cNvPr id="33" name="رقم الخطوة"/>
          <p:cNvSpPr txBox="1"/>
          <p:nvPr/>
        </p:nvSpPr>
        <p:spPr>
          <a:xfrm>
            <a:off x="6840000" y="8539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7</a:t>
            </a:r>
          </a:p>
        </p:txBody>
      </p:sp>
      <p:sp>
        <p:nvSpPr>
          <p:cNvPr id="34" name="دليل: نصائح الكتابة"/>
          <p:cNvSpPr txBox="1"/>
          <p:nvPr/>
        </p:nvSpPr>
        <p:spPr>
          <a:xfrm>
            <a:off x="432000" y="8510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نصائح الكتابة</a:t>
            </a:r>
          </a:p>
        </p:txBody>
      </p:sp>
      <p:sp>
        <p:nvSpPr>
          <p:cNvPr id="35" name="نص: نصائح الكتابة"/>
          <p:cNvSpPr txBox="1"/>
          <p:nvPr/>
        </p:nvSpPr>
        <p:spPr>
          <a:xfrm>
            <a:off x="432000" y="87624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ابدأ كل مهمة بالنتيجة لا بالنشاط («نُشرت اللوحة واعتمدتها 3 إدارات» بدل «عملت على اللوحة»). خمسة بنود كحد أقصى لكل قسم. بنود الأسبوع المقبل: نتيجة + يوم. الأعداد في الخلاصة تطابق البطاقات وحالات الجدول. التحديات: السبب ← الأثر ← الموعد الجديد ← هل يحتاج تدخّلك؟ القرار المطلوب: طلب واحد بموعد وأثر للتأخير.</a:t>
            </a:r>
          </a:p>
        </p:txBody>
      </p:sp>
      <p:sp>
        <p:nvSpPr>
          <p:cNvPr id="36" name="تذييل الدليل"/>
          <p:cNvSpPr txBox="1"/>
          <p:nvPr/>
        </p:nvSpPr>
        <p:spPr>
          <a:xfrm>
            <a:off x="432000" y="10224000"/>
            <a:ext cx="6696000" cy="216000"/>
          </a:xfrm>
          <a:prstGeom prst="rect">
            <a:avLst/>
          </a:prstGeom>
          <a:noFill/>
          <a:ln>
            <a:noFill/>
          </a:ln>
        </p:spPr>
        <p:txBody>
          <a:bodyPr wrap="square" lIns="0" tIns="0" rIns="0" bIns="0" rtlCol="0" anchor="ctr"/>
          <a:lstStyle/>
          <a:p>
            <a:pPr marL="0" indent="0" algn="r" rtl="1">
              <a:spcBef>
                <a:spcPts val="0"/>
              </a:spcBef>
              <a:buNone/>
            </a:pPr>
            <a:r>
              <a:rPr lang="ar-SA" sz="850" dirty="0">
                <a:solidFill>
                  <a:srgbClr val="6C727E"/>
                </a:solidFill>
                <a:latin typeface="IBM Plex Sans Arabic"/>
                <a:cs typeface="IBM Plex Sans Arabic"/>
              </a:rPr>
              <a:t>القالب مستوحى من الهوية البصرية لسدايا (ألوانها وتدرجاتها وزخرفة شبكية) دون استخدام شعارها.</a:t>
            </a:r>
          </a:p>
        </p:txBody>
      </p:sp>
    </p:spTree>
  </p:cSld>
  <p:clrMapOvr>
    <a:masterClrMapping/>
  </p:clrMapOvr>
</p:sld>
</file>

<file path=ppt/theme/theme1.xml><?xml version="1.0" encoding="utf-8"?>
<a:theme xmlns:a="http://schemas.openxmlformats.org/drawingml/2006/main" name="Office Theme">
  <a:themeElements>
    <a:clrScheme name="SDAIA-inspired">
      <a:dk1>
        <a:srgbClr val="1F2A37"/>
      </a:dk1>
      <a:lt1>
        <a:srgbClr val="FFFFFF"/>
      </a:lt1>
      <a:dk2>
        <a:srgbClr val="273470"/>
      </a:dk2>
      <a:lt2>
        <a:srgbClr val="EEF0F8"/>
      </a:lt2>
      <a:accent1>
        <a:srgbClr val="0C7373"/>
      </a:accent1>
      <a:accent2>
        <a:srgbClr val="6459A7"/>
      </a:accent2>
      <a:accent3>
        <a:srgbClr val="127A5B"/>
      </a:accent3>
      <a:accent4>
        <a:srgbClr val="33CC99"/>
      </a:accent4>
      <a:accent5>
        <a:srgbClr val="66CCFF"/>
      </a:accent5>
      <a:accent6>
        <a:srgbClr val="B54708"/>
      </a:accent6>
      <a:hlink>
        <a:srgbClr val="0C7373"/>
      </a:hlink>
      <a:folHlink>
        <a:srgbClr val="6459A7"/>
      </a:folHlink>
    </a:clrScheme>
    <a:fontScheme name="Office">
      <a:maj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التقرير الأسبوعي للمهام — قالب</dc:title>
  <dc:subject>قالب تقرير أسبوعي للمهام (A4 عمودي، عربي)</dc:subject>
  <dc:creator/>
  <cp:keywords/>
  <dc:description/>
  <cp:lastModifiedBy/>
  <cp:revision>1</cp:revision>
  <dcterms:created xsi:type="dcterms:W3CDTF">2026-10-28T16:22:48Z</dcterms:created>
  <dcterms:modified xsi:type="dcterms:W3CDTF">2026-10-28T16:22:48Z</dcterms:modified>
  <cp:category/>
  <dc:language>ar-SA</dc:language>
</cp:coreProperties>
</file>